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102" y="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Zhong" userId="103a72fdc47caf9a" providerId="LiveId" clId="{241CEE3F-E019-4D18-BE04-9ADE5BA626CC}"/>
    <pc:docChg chg="modSld">
      <pc:chgData name="Jack Zhong" userId="103a72fdc47caf9a" providerId="LiveId" clId="{241CEE3F-E019-4D18-BE04-9ADE5BA626CC}" dt="2026-04-06T09:10:16.544" v="27" actId="20577"/>
      <pc:docMkLst>
        <pc:docMk/>
      </pc:docMkLst>
      <pc:sldChg chg="modSp mod">
        <pc:chgData name="Jack Zhong" userId="103a72fdc47caf9a" providerId="LiveId" clId="{241CEE3F-E019-4D18-BE04-9ADE5BA626CC}" dt="2026-04-06T09:10:16.544" v="27" actId="20577"/>
        <pc:sldMkLst>
          <pc:docMk/>
          <pc:sldMk cId="0" sldId="275"/>
        </pc:sldMkLst>
        <pc:spChg chg="mod">
          <ac:chgData name="Jack Zhong" userId="103a72fdc47caf9a" providerId="LiveId" clId="{241CEE3F-E019-4D18-BE04-9ADE5BA626CC}" dt="2026-04-06T09:09:45.947" v="4"/>
          <ac:spMkLst>
            <pc:docMk/>
            <pc:sldMk cId="0" sldId="275"/>
            <ac:spMk id="17" creationId="{00000000-0000-0000-0000-000000000000}"/>
          </ac:spMkLst>
        </pc:spChg>
        <pc:spChg chg="mod">
          <ac:chgData name="Jack Zhong" userId="103a72fdc47caf9a" providerId="LiveId" clId="{241CEE3F-E019-4D18-BE04-9ADE5BA626CC}" dt="2026-04-06T09:09:52.108" v="9" actId="20577"/>
          <ac:spMkLst>
            <pc:docMk/>
            <pc:sldMk cId="0" sldId="275"/>
            <ac:spMk id="27" creationId="{00000000-0000-0000-0000-000000000000}"/>
          </ac:spMkLst>
        </pc:spChg>
        <pc:spChg chg="mod">
          <ac:chgData name="Jack Zhong" userId="103a72fdc47caf9a" providerId="LiveId" clId="{241CEE3F-E019-4D18-BE04-9ADE5BA626CC}" dt="2026-04-06T09:10:03.265" v="15" actId="20577"/>
          <ac:spMkLst>
            <pc:docMk/>
            <pc:sldMk cId="0" sldId="275"/>
            <ac:spMk id="37" creationId="{00000000-0000-0000-0000-000000000000}"/>
          </ac:spMkLst>
        </pc:spChg>
        <pc:spChg chg="mod">
          <ac:chgData name="Jack Zhong" userId="103a72fdc47caf9a" providerId="LiveId" clId="{241CEE3F-E019-4D18-BE04-9ADE5BA626CC}" dt="2026-04-06T09:10:11.758" v="18" actId="20577"/>
          <ac:spMkLst>
            <pc:docMk/>
            <pc:sldMk cId="0" sldId="275"/>
            <ac:spMk id="47" creationId="{00000000-0000-0000-0000-000000000000}"/>
          </ac:spMkLst>
        </pc:spChg>
        <pc:spChg chg="mod">
          <ac:chgData name="Jack Zhong" userId="103a72fdc47caf9a" providerId="LiveId" clId="{241CEE3F-E019-4D18-BE04-9ADE5BA626CC}" dt="2026-04-06T09:10:16.544" v="27" actId="20577"/>
          <ac:spMkLst>
            <pc:docMk/>
            <pc:sldMk cId="0" sldId="275"/>
            <ac:spMk id="5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315200"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0"/>
            <a:ext cx="6400800" cy="2743200"/>
          </a:xfrm>
          <a:prstGeom prst="rect">
            <a:avLst/>
          </a:prstGeom>
          <a:noFill/>
        </p:spPr>
        <p:txBody>
          <a:bodyPr wrap="square">
            <a:spAutoFit/>
          </a:bodyPr>
          <a:lstStyle/>
          <a:p>
            <a:pPr algn="l"/>
            <a:r>
              <a:rPr sz="3600" b="1">
                <a:solidFill>
                  <a:srgbClr val="FFFFFF"/>
                </a:solidFill>
                <a:latin typeface="Calibri"/>
              </a:rPr>
              <a:t>供应链尽职调查：
为什么我们需要它</a:t>
            </a:r>
          </a:p>
        </p:txBody>
      </p:sp>
      <p:sp>
        <p:nvSpPr>
          <p:cNvPr id="4" name="TextBox 3"/>
          <p:cNvSpPr txBox="1"/>
          <p:nvPr/>
        </p:nvSpPr>
        <p:spPr>
          <a:xfrm>
            <a:off x="457200" y="4206240"/>
            <a:ext cx="6400800" cy="1097280"/>
          </a:xfrm>
          <a:prstGeom prst="rect">
            <a:avLst/>
          </a:prstGeom>
          <a:noFill/>
        </p:spPr>
        <p:txBody>
          <a:bodyPr wrap="square">
            <a:spAutoFit/>
          </a:bodyPr>
          <a:lstStyle/>
          <a:p>
            <a:pPr algn="l"/>
            <a:r>
              <a:rPr sz="2000" b="0">
                <a:solidFill>
                  <a:srgbClr val="FFFFFF"/>
                </a:solidFill>
                <a:latin typeface="Calibri"/>
              </a:rPr>
              <a:t>管理层决策支持材料 | 供应链合规战略</a:t>
            </a:r>
          </a:p>
        </p:txBody>
      </p:sp>
      <p:sp>
        <p:nvSpPr>
          <p:cNvPr id="5" name="TextBox 4"/>
          <p:cNvSpPr txBox="1"/>
          <p:nvPr/>
        </p:nvSpPr>
        <p:spPr>
          <a:xfrm>
            <a:off x="7680960" y="3200400"/>
            <a:ext cx="4114800" cy="548640"/>
          </a:xfrm>
          <a:prstGeom prst="rect">
            <a:avLst/>
          </a:prstGeom>
          <a:noFill/>
        </p:spPr>
        <p:txBody>
          <a:bodyPr wrap="square">
            <a:spAutoFit/>
          </a:bodyPr>
          <a:lstStyle/>
          <a:p>
            <a:pPr algn="l"/>
            <a:r>
              <a:rPr sz="1600" b="0">
                <a:solidFill>
                  <a:srgbClr val="1E3A5F"/>
                </a:solidFill>
                <a:latin typeface="Calibri"/>
              </a:rPr>
              <a:t>[演讲者姓名/职位]</a:t>
            </a:r>
          </a:p>
        </p:txBody>
      </p:sp>
      <p:sp>
        <p:nvSpPr>
          <p:cNvPr id="6" name="TextBox 5"/>
          <p:cNvSpPr txBox="1"/>
          <p:nvPr/>
        </p:nvSpPr>
        <p:spPr>
          <a:xfrm>
            <a:off x="7680960" y="3840480"/>
            <a:ext cx="4114800" cy="457200"/>
          </a:xfrm>
          <a:prstGeom prst="rect">
            <a:avLst/>
          </a:prstGeom>
          <a:noFill/>
        </p:spPr>
        <p:txBody>
          <a:bodyPr wrap="square">
            <a:spAutoFit/>
          </a:bodyPr>
          <a:lstStyle/>
          <a:p>
            <a:pPr algn="l"/>
            <a:r>
              <a:rPr sz="1400" b="0">
                <a:solidFill>
                  <a:srgbClr val="6C757D"/>
                </a:solidFill>
                <a:latin typeface="Calibri"/>
              </a:rPr>
              <a:t>[日期]</a:t>
            </a:r>
          </a:p>
        </p:txBody>
      </p:sp>
      <p:sp>
        <p:nvSpPr>
          <p:cNvPr id="7" name="TextBox 6"/>
          <p:cNvSpPr txBox="1"/>
          <p:nvPr/>
        </p:nvSpPr>
        <p:spPr>
          <a:xfrm>
            <a:off x="7680960" y="6217920"/>
            <a:ext cx="4114800" cy="457200"/>
          </a:xfrm>
          <a:prstGeom prst="rect">
            <a:avLst/>
          </a:prstGeom>
          <a:noFill/>
        </p:spPr>
        <p:txBody>
          <a:bodyPr wrap="square">
            <a:spAutoFit/>
          </a:bodyPr>
          <a:lstStyle/>
          <a:p>
            <a:pPr algn="l"/>
            <a:r>
              <a:rPr sz="1100" b="0">
                <a:solidFill>
                  <a:srgbClr val="6C757D"/>
                </a:solidFill>
                <a:latin typeface="Calibri"/>
              </a:rPr>
              <a:t>供应链尽职调查系列</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本次汇报议程</a:t>
            </a:r>
          </a:p>
        </p:txBody>
      </p:sp>
      <p:sp>
        <p:nvSpPr>
          <p:cNvPr id="4" name="TextBox 3"/>
          <p:cNvSpPr txBox="1"/>
          <p:nvPr/>
        </p:nvSpPr>
        <p:spPr>
          <a:xfrm>
            <a:off x="457200" y="1143000"/>
            <a:ext cx="11247120" cy="5120640"/>
          </a:xfrm>
          <a:prstGeom prst="rect">
            <a:avLst/>
          </a:prstGeom>
          <a:noFill/>
        </p:spPr>
        <p:txBody>
          <a:bodyPr wrap="square">
            <a:spAutoFit/>
          </a:bodyPr>
          <a:lstStyle/>
          <a:p>
            <a:pPr>
              <a:spcBef>
                <a:spcPts val="400"/>
              </a:spcBef>
            </a:pPr>
            <a:r>
              <a:rPr sz="1900">
                <a:solidFill>
                  <a:srgbClr val="1A1A2E"/>
                </a:solidFill>
                <a:latin typeface="Calibri"/>
              </a:rPr>
              <a:t>• 1.  我们面临的风险现实</a:t>
            </a:r>
          </a:p>
          <a:p>
            <a:pPr>
              <a:spcBef>
                <a:spcPts val="400"/>
              </a:spcBef>
            </a:pPr>
            <a:r>
              <a:rPr sz="1900">
                <a:solidFill>
                  <a:srgbClr val="1A1A2E"/>
                </a:solidFill>
                <a:latin typeface="Calibri"/>
              </a:rPr>
              <a:t>• 2.  全球监管压力：强制性要求正在到来</a:t>
            </a:r>
          </a:p>
          <a:p>
            <a:pPr>
              <a:spcBef>
                <a:spcPts val="400"/>
              </a:spcBef>
            </a:pPr>
            <a:r>
              <a:rPr sz="1900">
                <a:solidFill>
                  <a:srgbClr val="1A1A2E"/>
                </a:solidFill>
                <a:latin typeface="Calibri"/>
              </a:rPr>
              <a:t>• 3.  同行基准：竞争对手在做什么</a:t>
            </a:r>
          </a:p>
          <a:p>
            <a:pPr>
              <a:spcBef>
                <a:spcPts val="400"/>
              </a:spcBef>
            </a:pPr>
            <a:r>
              <a:rPr sz="1900">
                <a:solidFill>
                  <a:srgbClr val="1A1A2E"/>
                </a:solidFill>
                <a:latin typeface="Calibri"/>
              </a:rPr>
              <a:t>• 4.  不合规的真实代价——三个典型案例</a:t>
            </a:r>
          </a:p>
          <a:p>
            <a:pPr>
              <a:spcBef>
                <a:spcPts val="400"/>
              </a:spcBef>
            </a:pPr>
            <a:r>
              <a:rPr sz="1900">
                <a:solidFill>
                  <a:srgbClr val="1A1A2E"/>
                </a:solidFill>
                <a:latin typeface="Calibri"/>
              </a:rPr>
              <a:t>• 5.  我们的风险敞口评估</a:t>
            </a:r>
          </a:p>
          <a:p>
            <a:pPr>
              <a:spcBef>
                <a:spcPts val="400"/>
              </a:spcBef>
            </a:pPr>
            <a:r>
              <a:rPr sz="1900">
                <a:solidFill>
                  <a:srgbClr val="1A1A2E"/>
                </a:solidFill>
                <a:latin typeface="Calibri"/>
              </a:rPr>
              <a:t>• 6.  提议的尽职调查项目框架</a:t>
            </a:r>
          </a:p>
          <a:p>
            <a:pPr>
              <a:spcBef>
                <a:spcPts val="400"/>
              </a:spcBef>
            </a:pPr>
            <a:r>
              <a:rPr sz="1900">
                <a:solidFill>
                  <a:srgbClr val="1A1A2E"/>
                </a:solidFill>
                <a:latin typeface="Calibri"/>
              </a:rPr>
              <a:t>• 7.  投资概算与ROI</a:t>
            </a:r>
          </a:p>
          <a:p>
            <a:pPr>
              <a:spcBef>
                <a:spcPts val="400"/>
              </a:spcBef>
            </a:pPr>
            <a:r>
              <a:rPr sz="1900">
                <a:solidFill>
                  <a:srgbClr val="1A1A2E"/>
                </a:solidFill>
                <a:latin typeface="Calibri"/>
              </a:rPr>
              <a:t>• 8.  实施路线图</a:t>
            </a:r>
          </a:p>
          <a:p>
            <a:pPr>
              <a:spcBef>
                <a:spcPts val="400"/>
              </a:spcBef>
            </a:pPr>
            <a:r>
              <a:rPr sz="1900">
                <a:solidFill>
                  <a:srgbClr val="1A1A2E"/>
                </a:solidFill>
                <a:latin typeface="Calibri"/>
              </a:rPr>
              <a:t>• 9.  建议决策事项</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058400" cy="1371600"/>
          </a:xfrm>
          <a:prstGeom prst="rect">
            <a:avLst/>
          </a:prstGeom>
          <a:noFill/>
        </p:spPr>
        <p:txBody>
          <a:bodyPr wrap="square">
            <a:spAutoFit/>
          </a:bodyPr>
          <a:lstStyle/>
          <a:p>
            <a:pPr algn="ctr"/>
            <a:r>
              <a:rPr sz="4000" b="1">
                <a:solidFill>
                  <a:srgbClr val="FFFFFF"/>
                </a:solidFill>
                <a:latin typeface="Calibri"/>
              </a:rPr>
              <a:t>第一部分：我们面临什么风险？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供应链风险：触目惊心的数字</a:t>
            </a:r>
          </a:p>
        </p:txBody>
      </p:sp>
      <p:sp>
        <p:nvSpPr>
          <p:cNvPr id="4" name="Rectangle 3"/>
          <p:cNvSpPr/>
          <p:nvPr/>
        </p:nvSpPr>
        <p:spPr>
          <a:xfrm>
            <a:off x="457200" y="1280160"/>
            <a:ext cx="2560320" cy="3200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0"/>
            <a:ext cx="2560320" cy="1828800"/>
          </a:xfrm>
          <a:prstGeom prst="rect">
            <a:avLst/>
          </a:prstGeom>
          <a:noFill/>
        </p:spPr>
        <p:txBody>
          <a:bodyPr wrap="square">
            <a:spAutoFit/>
          </a:bodyPr>
          <a:lstStyle/>
          <a:p>
            <a:pPr algn="ctr"/>
            <a:r>
              <a:rPr sz="5200" b="1">
                <a:solidFill>
                  <a:srgbClr val="F18F01"/>
                </a:solidFill>
                <a:latin typeface="Calibri"/>
              </a:rPr>
              <a:t>83%</a:t>
            </a:r>
          </a:p>
        </p:txBody>
      </p:sp>
      <p:sp>
        <p:nvSpPr>
          <p:cNvPr id="6" name="TextBox 5"/>
          <p:cNvSpPr txBox="1"/>
          <p:nvPr/>
        </p:nvSpPr>
        <p:spPr>
          <a:xfrm>
            <a:off x="457200" y="3566160"/>
            <a:ext cx="2560320" cy="1097280"/>
          </a:xfrm>
          <a:prstGeom prst="rect">
            <a:avLst/>
          </a:prstGeom>
          <a:noFill/>
        </p:spPr>
        <p:txBody>
          <a:bodyPr wrap="square">
            <a:spAutoFit/>
          </a:bodyPr>
          <a:lstStyle/>
          <a:p>
            <a:pPr algn="ctr"/>
            <a:r>
              <a:rPr sz="1500" b="0">
                <a:solidFill>
                  <a:srgbClr val="FFFFFF"/>
                </a:solidFill>
                <a:latin typeface="Calibri"/>
              </a:rPr>
              <a:t>企业在过去5年经历
至少一次重大供应链中断
（Resilinc 2023年报告）</a:t>
            </a:r>
          </a:p>
        </p:txBody>
      </p:sp>
      <p:sp>
        <p:nvSpPr>
          <p:cNvPr id="7" name="Rectangle 6"/>
          <p:cNvSpPr/>
          <p:nvPr/>
        </p:nvSpPr>
        <p:spPr>
          <a:xfrm>
            <a:off x="3200400" y="1280160"/>
            <a:ext cx="2560320" cy="3200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0" y="1645920"/>
            <a:ext cx="2560320" cy="1828800"/>
          </a:xfrm>
          <a:prstGeom prst="rect">
            <a:avLst/>
          </a:prstGeom>
          <a:noFill/>
        </p:spPr>
        <p:txBody>
          <a:bodyPr wrap="square">
            <a:spAutoFit/>
          </a:bodyPr>
          <a:lstStyle/>
          <a:p>
            <a:pPr algn="ctr"/>
            <a:r>
              <a:rPr sz="5200" b="1">
                <a:solidFill>
                  <a:srgbClr val="F18F01"/>
                </a:solidFill>
                <a:latin typeface="Calibri"/>
              </a:rPr>
              <a:t>$182M</a:t>
            </a:r>
          </a:p>
        </p:txBody>
      </p:sp>
      <p:sp>
        <p:nvSpPr>
          <p:cNvPr id="9" name="TextBox 8"/>
          <p:cNvSpPr txBox="1"/>
          <p:nvPr/>
        </p:nvSpPr>
        <p:spPr>
          <a:xfrm>
            <a:off x="3200400" y="3566160"/>
            <a:ext cx="2560320" cy="1097280"/>
          </a:xfrm>
          <a:prstGeom prst="rect">
            <a:avLst/>
          </a:prstGeom>
          <a:noFill/>
        </p:spPr>
        <p:txBody>
          <a:bodyPr wrap="square">
            <a:spAutoFit/>
          </a:bodyPr>
          <a:lstStyle/>
          <a:p>
            <a:pPr algn="ctr"/>
            <a:r>
              <a:rPr sz="1500" b="0">
                <a:solidFill>
                  <a:srgbClr val="FFFFFF"/>
                </a:solidFill>
                <a:latin typeface="Calibri"/>
              </a:rPr>
              <a:t>供应链中断平均每次
造成的营收损失
（McKinsey数据）</a:t>
            </a:r>
          </a:p>
        </p:txBody>
      </p:sp>
      <p:sp>
        <p:nvSpPr>
          <p:cNvPr id="10" name="Rectangle 9"/>
          <p:cNvSpPr/>
          <p:nvPr/>
        </p:nvSpPr>
        <p:spPr>
          <a:xfrm>
            <a:off x="5943600" y="1280160"/>
            <a:ext cx="2560320" cy="3200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0" y="1645920"/>
            <a:ext cx="2560320" cy="1828800"/>
          </a:xfrm>
          <a:prstGeom prst="rect">
            <a:avLst/>
          </a:prstGeom>
          <a:noFill/>
        </p:spPr>
        <p:txBody>
          <a:bodyPr wrap="square">
            <a:spAutoFit/>
          </a:bodyPr>
          <a:lstStyle/>
          <a:p>
            <a:pPr algn="ctr"/>
            <a:r>
              <a:rPr sz="5200" b="1">
                <a:solidFill>
                  <a:srgbClr val="F18F01"/>
                </a:solidFill>
                <a:latin typeface="Calibri"/>
              </a:rPr>
              <a:t>60%+</a:t>
            </a:r>
          </a:p>
        </p:txBody>
      </p:sp>
      <p:sp>
        <p:nvSpPr>
          <p:cNvPr id="12" name="TextBox 11"/>
          <p:cNvSpPr txBox="1"/>
          <p:nvPr/>
        </p:nvSpPr>
        <p:spPr>
          <a:xfrm>
            <a:off x="5943600" y="3566160"/>
            <a:ext cx="2560320" cy="1097280"/>
          </a:xfrm>
          <a:prstGeom prst="rect">
            <a:avLst/>
          </a:prstGeom>
          <a:noFill/>
        </p:spPr>
        <p:txBody>
          <a:bodyPr wrap="square">
            <a:spAutoFit/>
          </a:bodyPr>
          <a:lstStyle/>
          <a:p>
            <a:pPr algn="ctr"/>
            <a:r>
              <a:rPr sz="1500" b="0">
                <a:solidFill>
                  <a:srgbClr val="FFFFFF"/>
                </a:solidFill>
                <a:latin typeface="Calibri"/>
              </a:rPr>
              <a:t>ESG违规事件
源于供应商
而非品牌方本身</a:t>
            </a:r>
          </a:p>
        </p:txBody>
      </p:sp>
      <p:sp>
        <p:nvSpPr>
          <p:cNvPr id="13" name="Rectangle 12"/>
          <p:cNvSpPr/>
          <p:nvPr/>
        </p:nvSpPr>
        <p:spPr>
          <a:xfrm>
            <a:off x="8686800" y="1280160"/>
            <a:ext cx="2560320" cy="3200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0" y="1645920"/>
            <a:ext cx="2560320" cy="1828800"/>
          </a:xfrm>
          <a:prstGeom prst="rect">
            <a:avLst/>
          </a:prstGeom>
          <a:noFill/>
        </p:spPr>
        <p:txBody>
          <a:bodyPr wrap="square">
            <a:spAutoFit/>
          </a:bodyPr>
          <a:lstStyle/>
          <a:p>
            <a:pPr algn="ctr"/>
            <a:r>
              <a:rPr sz="5200" b="1">
                <a:solidFill>
                  <a:srgbClr val="F18F01"/>
                </a:solidFill>
                <a:latin typeface="Calibri"/>
              </a:rPr>
              <a:t>5年</a:t>
            </a:r>
          </a:p>
        </p:txBody>
      </p:sp>
      <p:sp>
        <p:nvSpPr>
          <p:cNvPr id="15" name="TextBox 14"/>
          <p:cNvSpPr txBox="1"/>
          <p:nvPr/>
        </p:nvSpPr>
        <p:spPr>
          <a:xfrm>
            <a:off x="8686800" y="3566160"/>
            <a:ext cx="2560320" cy="1097280"/>
          </a:xfrm>
          <a:prstGeom prst="rect">
            <a:avLst/>
          </a:prstGeom>
          <a:noFill/>
        </p:spPr>
        <p:txBody>
          <a:bodyPr wrap="square">
            <a:spAutoFit/>
          </a:bodyPr>
          <a:lstStyle/>
          <a:p>
            <a:pPr algn="ctr"/>
            <a:r>
              <a:rPr sz="1500" b="0">
                <a:solidFill>
                  <a:srgbClr val="FFFFFF"/>
                </a:solidFill>
                <a:latin typeface="Calibri"/>
              </a:rPr>
              <a:t>CSDDD等新法规要求的
供应链合规改造
通常需要时间</a:t>
            </a:r>
          </a:p>
        </p:txBody>
      </p:sp>
      <p:sp>
        <p:nvSpPr>
          <p:cNvPr id="16" name="Rectangle 15"/>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供应链风险的四个维度</a:t>
            </a:r>
          </a:p>
        </p:txBody>
      </p:sp>
      <p:sp>
        <p:nvSpPr>
          <p:cNvPr id="4" name="TextBox 3"/>
          <p:cNvSpPr txBox="1"/>
          <p:nvPr/>
        </p:nvSpPr>
        <p:spPr>
          <a:xfrm>
            <a:off x="457200" y="1143000"/>
            <a:ext cx="11247120" cy="5120640"/>
          </a:xfrm>
          <a:prstGeom prst="rect">
            <a:avLst/>
          </a:prstGeom>
          <a:noFill/>
        </p:spPr>
        <p:txBody>
          <a:bodyPr wrap="square">
            <a:spAutoFit/>
          </a:bodyPr>
          <a:lstStyle/>
          <a:p>
            <a:pPr>
              <a:spcBef>
                <a:spcPts val="400"/>
              </a:spcBef>
            </a:pPr>
            <a:r>
              <a:rPr sz="1800">
                <a:solidFill>
                  <a:srgbClr val="1A1A2E"/>
                </a:solidFill>
                <a:latin typeface="Calibri"/>
              </a:rPr>
              <a:t>• 📋  合规与法律风险 — LkSG、CSDDD、UFLPA、FCPA等强制性法规的违规罚款和刑事责任</a:t>
            </a:r>
          </a:p>
          <a:p>
            <a:pPr>
              <a:spcBef>
                <a:spcPts val="400"/>
              </a:spcBef>
            </a:pPr>
            <a:r>
              <a:rPr sz="1800">
                <a:solidFill>
                  <a:srgbClr val="1A1A2E"/>
                </a:solidFill>
                <a:latin typeface="Calibri"/>
              </a:rPr>
              <a:t>• 💰  财务风险 — 供应商破产、质量事故、货物扣押导致的直接经济损失</a:t>
            </a:r>
          </a:p>
          <a:p>
            <a:pPr>
              <a:spcBef>
                <a:spcPts val="400"/>
              </a:spcBef>
            </a:pPr>
            <a:r>
              <a:rPr sz="1800">
                <a:solidFill>
                  <a:srgbClr val="1A1A2E"/>
                </a:solidFill>
                <a:latin typeface="Calibri"/>
              </a:rPr>
              <a:t>• 🏷️  声誉风险 — 媒体曝光、社交媒体舆论引发的品牌危机和消费者抵制</a:t>
            </a:r>
          </a:p>
          <a:p>
            <a:pPr>
              <a:spcBef>
                <a:spcPts val="400"/>
              </a:spcBef>
            </a:pPr>
            <a:r>
              <a:rPr sz="1800">
                <a:solidFill>
                  <a:srgbClr val="1A1A2E"/>
                </a:solidFill>
                <a:latin typeface="Calibri"/>
              </a:rPr>
              <a:t>• 🔗  运营风险 — 供应中断、交货延迟、替代供应商紧急切换的隐性成本</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7F9E"/>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058400" cy="1371600"/>
          </a:xfrm>
          <a:prstGeom prst="rect">
            <a:avLst/>
          </a:prstGeom>
          <a:noFill/>
        </p:spPr>
        <p:txBody>
          <a:bodyPr wrap="square">
            <a:spAutoFit/>
          </a:bodyPr>
          <a:lstStyle/>
          <a:p>
            <a:pPr algn="ctr"/>
            <a:r>
              <a:rPr sz="4000" b="1">
                <a:solidFill>
                  <a:srgbClr val="FFFFFF"/>
                </a:solidFill>
                <a:latin typeface="Calibri"/>
              </a:rPr>
              <a:t>第二部分：全球监管压力</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主要强制性供应链尽职调查法规（已生效或即将生效）</a:t>
            </a:r>
          </a:p>
        </p:txBody>
      </p:sp>
      <p:sp>
        <p:nvSpPr>
          <p:cNvPr id="4" name="Rectangle 3"/>
          <p:cNvSpPr/>
          <p:nvPr/>
        </p:nvSpPr>
        <p:spPr>
          <a:xfrm>
            <a:off x="457200"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8" y="1188720"/>
            <a:ext cx="2157984" cy="347472"/>
          </a:xfrm>
          <a:prstGeom prst="rect">
            <a:avLst/>
          </a:prstGeom>
          <a:noFill/>
        </p:spPr>
        <p:txBody>
          <a:bodyPr wrap="square">
            <a:spAutoFit/>
          </a:bodyPr>
          <a:lstStyle/>
          <a:p>
            <a:pPr algn="l"/>
            <a:r>
              <a:rPr sz="1300" b="1">
                <a:solidFill>
                  <a:srgbClr val="FFFFFF"/>
                </a:solidFill>
                <a:latin typeface="Calibri"/>
              </a:rPr>
              <a:t>法规</a:t>
            </a:r>
          </a:p>
        </p:txBody>
      </p:sp>
      <p:sp>
        <p:nvSpPr>
          <p:cNvPr id="6" name="Rectangle 5"/>
          <p:cNvSpPr/>
          <p:nvPr/>
        </p:nvSpPr>
        <p:spPr>
          <a:xfrm>
            <a:off x="2706624"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24912" y="1188720"/>
            <a:ext cx="2157984" cy="347472"/>
          </a:xfrm>
          <a:prstGeom prst="rect">
            <a:avLst/>
          </a:prstGeom>
          <a:noFill/>
        </p:spPr>
        <p:txBody>
          <a:bodyPr wrap="square">
            <a:spAutoFit/>
          </a:bodyPr>
          <a:lstStyle/>
          <a:p>
            <a:pPr algn="l"/>
            <a:r>
              <a:rPr sz="1300" b="1">
                <a:solidFill>
                  <a:srgbClr val="FFFFFF"/>
                </a:solidFill>
                <a:latin typeface="Calibri"/>
              </a:rPr>
              <a:t>生效时间</a:t>
            </a:r>
          </a:p>
        </p:txBody>
      </p:sp>
      <p:sp>
        <p:nvSpPr>
          <p:cNvPr id="8" name="Rectangle 7"/>
          <p:cNvSpPr/>
          <p:nvPr/>
        </p:nvSpPr>
        <p:spPr>
          <a:xfrm>
            <a:off x="4956048"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74336" y="1188720"/>
            <a:ext cx="2157984" cy="347472"/>
          </a:xfrm>
          <a:prstGeom prst="rect">
            <a:avLst/>
          </a:prstGeom>
          <a:noFill/>
        </p:spPr>
        <p:txBody>
          <a:bodyPr wrap="square">
            <a:spAutoFit/>
          </a:bodyPr>
          <a:lstStyle/>
          <a:p>
            <a:pPr algn="l"/>
            <a:r>
              <a:rPr sz="1300" b="1">
                <a:solidFill>
                  <a:srgbClr val="FFFFFF"/>
                </a:solidFill>
                <a:latin typeface="Calibri"/>
              </a:rPr>
              <a:t>适用门槛</a:t>
            </a:r>
          </a:p>
        </p:txBody>
      </p:sp>
      <p:sp>
        <p:nvSpPr>
          <p:cNvPr id="10" name="Rectangle 9"/>
          <p:cNvSpPr/>
          <p:nvPr/>
        </p:nvSpPr>
        <p:spPr>
          <a:xfrm>
            <a:off x="7205472"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0" y="1188720"/>
            <a:ext cx="2157984" cy="347472"/>
          </a:xfrm>
          <a:prstGeom prst="rect">
            <a:avLst/>
          </a:prstGeom>
          <a:noFill/>
        </p:spPr>
        <p:txBody>
          <a:bodyPr wrap="square">
            <a:spAutoFit/>
          </a:bodyPr>
          <a:lstStyle/>
          <a:p>
            <a:pPr algn="l"/>
            <a:r>
              <a:rPr sz="1300" b="1">
                <a:solidFill>
                  <a:srgbClr val="FFFFFF"/>
                </a:solidFill>
                <a:latin typeface="Calibri"/>
              </a:rPr>
              <a:t>主要义务</a:t>
            </a:r>
          </a:p>
        </p:txBody>
      </p:sp>
      <p:sp>
        <p:nvSpPr>
          <p:cNvPr id="12" name="Rectangle 11"/>
          <p:cNvSpPr/>
          <p:nvPr/>
        </p:nvSpPr>
        <p:spPr>
          <a:xfrm>
            <a:off x="9454896"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73184" y="1188720"/>
            <a:ext cx="2157984" cy="347472"/>
          </a:xfrm>
          <a:prstGeom prst="rect">
            <a:avLst/>
          </a:prstGeom>
          <a:noFill/>
        </p:spPr>
        <p:txBody>
          <a:bodyPr wrap="square">
            <a:spAutoFit/>
          </a:bodyPr>
          <a:lstStyle/>
          <a:p>
            <a:pPr algn="l"/>
            <a:r>
              <a:rPr sz="1300" b="1">
                <a:solidFill>
                  <a:srgbClr val="FFFFFF"/>
                </a:solidFill>
                <a:latin typeface="Calibri"/>
              </a:rPr>
              <a:t>最高罚款</a:t>
            </a:r>
          </a:p>
        </p:txBody>
      </p:sp>
      <p:sp>
        <p:nvSpPr>
          <p:cNvPr id="14" name="Rectangle 13"/>
          <p:cNvSpPr/>
          <p:nvPr/>
        </p:nvSpPr>
        <p:spPr>
          <a:xfrm>
            <a:off x="457200"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618488"/>
            <a:ext cx="2157984" cy="365759"/>
          </a:xfrm>
          <a:prstGeom prst="rect">
            <a:avLst/>
          </a:prstGeom>
          <a:noFill/>
        </p:spPr>
        <p:txBody>
          <a:bodyPr wrap="square">
            <a:spAutoFit/>
          </a:bodyPr>
          <a:lstStyle/>
          <a:p>
            <a:pPr algn="l"/>
            <a:r>
              <a:rPr sz="1200" b="0">
                <a:solidFill>
                  <a:srgbClr val="1A1A2E"/>
                </a:solidFill>
                <a:latin typeface="Calibri"/>
              </a:rPr>
              <a:t>🇩🇪 德国 LkSG</a:t>
            </a:r>
          </a:p>
        </p:txBody>
      </p:sp>
      <p:sp>
        <p:nvSpPr>
          <p:cNvPr id="16" name="Rectangle 15"/>
          <p:cNvSpPr/>
          <p:nvPr/>
        </p:nvSpPr>
        <p:spPr>
          <a:xfrm>
            <a:off x="2706624"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52344" y="1618488"/>
            <a:ext cx="2157984" cy="365759"/>
          </a:xfrm>
          <a:prstGeom prst="rect">
            <a:avLst/>
          </a:prstGeom>
          <a:noFill/>
        </p:spPr>
        <p:txBody>
          <a:bodyPr wrap="square">
            <a:spAutoFit/>
          </a:bodyPr>
          <a:lstStyle/>
          <a:p>
            <a:pPr algn="l"/>
            <a:r>
              <a:rPr sz="1200" b="0">
                <a:solidFill>
                  <a:srgbClr val="1A1A2E"/>
                </a:solidFill>
                <a:latin typeface="Calibri"/>
              </a:rPr>
              <a:t>2023年</a:t>
            </a:r>
          </a:p>
        </p:txBody>
      </p:sp>
      <p:sp>
        <p:nvSpPr>
          <p:cNvPr id="18" name="Rectangle 17"/>
          <p:cNvSpPr/>
          <p:nvPr/>
        </p:nvSpPr>
        <p:spPr>
          <a:xfrm>
            <a:off x="4956048"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01768" y="1618488"/>
            <a:ext cx="2157984" cy="365759"/>
          </a:xfrm>
          <a:prstGeom prst="rect">
            <a:avLst/>
          </a:prstGeom>
          <a:noFill/>
        </p:spPr>
        <p:txBody>
          <a:bodyPr wrap="square">
            <a:spAutoFit/>
          </a:bodyPr>
          <a:lstStyle/>
          <a:p>
            <a:pPr algn="l"/>
            <a:r>
              <a:rPr sz="1200" b="0">
                <a:solidFill>
                  <a:srgbClr val="1A1A2E"/>
                </a:solidFill>
                <a:latin typeface="Calibri"/>
              </a:rPr>
              <a:t>≥1,000名员工</a:t>
            </a:r>
          </a:p>
        </p:txBody>
      </p:sp>
      <p:sp>
        <p:nvSpPr>
          <p:cNvPr id="20" name="Rectangle 19"/>
          <p:cNvSpPr/>
          <p:nvPr/>
        </p:nvSpPr>
        <p:spPr>
          <a:xfrm>
            <a:off x="7205472"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51192" y="1618488"/>
            <a:ext cx="2157984" cy="365759"/>
          </a:xfrm>
          <a:prstGeom prst="rect">
            <a:avLst/>
          </a:prstGeom>
          <a:noFill/>
        </p:spPr>
        <p:txBody>
          <a:bodyPr wrap="square">
            <a:spAutoFit/>
          </a:bodyPr>
          <a:lstStyle/>
          <a:p>
            <a:pPr algn="l"/>
            <a:r>
              <a:rPr sz="1200" b="0">
                <a:solidFill>
                  <a:srgbClr val="1A1A2E"/>
                </a:solidFill>
                <a:latin typeface="Calibri"/>
              </a:rPr>
              <a:t>人权+环境DD+申诉机制+年度报告</a:t>
            </a:r>
          </a:p>
        </p:txBody>
      </p:sp>
      <p:sp>
        <p:nvSpPr>
          <p:cNvPr id="22" name="Rectangle 21"/>
          <p:cNvSpPr/>
          <p:nvPr/>
        </p:nvSpPr>
        <p:spPr>
          <a:xfrm>
            <a:off x="9454896"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0616" y="1618488"/>
            <a:ext cx="2157984" cy="365759"/>
          </a:xfrm>
          <a:prstGeom prst="rect">
            <a:avLst/>
          </a:prstGeom>
          <a:noFill/>
        </p:spPr>
        <p:txBody>
          <a:bodyPr wrap="square">
            <a:spAutoFit/>
          </a:bodyPr>
          <a:lstStyle/>
          <a:p>
            <a:pPr algn="l"/>
            <a:r>
              <a:rPr sz="1200" b="0">
                <a:solidFill>
                  <a:srgbClr val="1A1A2E"/>
                </a:solidFill>
                <a:latin typeface="Calibri"/>
              </a:rPr>
              <a:t>营业额2%</a:t>
            </a:r>
          </a:p>
        </p:txBody>
      </p:sp>
      <p:sp>
        <p:nvSpPr>
          <p:cNvPr id="24" name="Rectangle 23"/>
          <p:cNvSpPr/>
          <p:nvPr/>
        </p:nvSpPr>
        <p:spPr>
          <a:xfrm>
            <a:off x="457200"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2057400"/>
            <a:ext cx="2157984" cy="365759"/>
          </a:xfrm>
          <a:prstGeom prst="rect">
            <a:avLst/>
          </a:prstGeom>
          <a:noFill/>
        </p:spPr>
        <p:txBody>
          <a:bodyPr wrap="square">
            <a:spAutoFit/>
          </a:bodyPr>
          <a:lstStyle/>
          <a:p>
            <a:pPr algn="l"/>
            <a:r>
              <a:rPr sz="1200" b="0">
                <a:solidFill>
                  <a:srgbClr val="1A1A2E"/>
                </a:solidFill>
                <a:latin typeface="Calibri"/>
              </a:rPr>
              <a:t>🇪🇺 欧盟 CSDDD</a:t>
            </a:r>
          </a:p>
        </p:txBody>
      </p:sp>
      <p:sp>
        <p:nvSpPr>
          <p:cNvPr id="26" name="Rectangle 25"/>
          <p:cNvSpPr/>
          <p:nvPr/>
        </p:nvSpPr>
        <p:spPr>
          <a:xfrm>
            <a:off x="2706624"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52344" y="2057400"/>
            <a:ext cx="2157984" cy="365759"/>
          </a:xfrm>
          <a:prstGeom prst="rect">
            <a:avLst/>
          </a:prstGeom>
          <a:noFill/>
        </p:spPr>
        <p:txBody>
          <a:bodyPr wrap="square">
            <a:spAutoFit/>
          </a:bodyPr>
          <a:lstStyle/>
          <a:p>
            <a:pPr algn="l"/>
            <a:r>
              <a:rPr sz="1200" b="0">
                <a:solidFill>
                  <a:srgbClr val="1A1A2E"/>
                </a:solidFill>
                <a:latin typeface="Calibri"/>
              </a:rPr>
              <a:t>2027年起分阶段</a:t>
            </a:r>
          </a:p>
        </p:txBody>
      </p:sp>
      <p:sp>
        <p:nvSpPr>
          <p:cNvPr id="28" name="Rectangle 27"/>
          <p:cNvSpPr/>
          <p:nvPr/>
        </p:nvSpPr>
        <p:spPr>
          <a:xfrm>
            <a:off x="4956048"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01768" y="2057400"/>
            <a:ext cx="2157984" cy="365759"/>
          </a:xfrm>
          <a:prstGeom prst="rect">
            <a:avLst/>
          </a:prstGeom>
          <a:noFill/>
        </p:spPr>
        <p:txBody>
          <a:bodyPr wrap="square">
            <a:spAutoFit/>
          </a:bodyPr>
          <a:lstStyle/>
          <a:p>
            <a:pPr algn="l"/>
            <a:r>
              <a:rPr sz="1200" b="0">
                <a:solidFill>
                  <a:srgbClr val="1A1A2E"/>
                </a:solidFill>
                <a:latin typeface="Calibri"/>
              </a:rPr>
              <a:t>大型企业（逐步扩展）</a:t>
            </a:r>
          </a:p>
        </p:txBody>
      </p:sp>
      <p:sp>
        <p:nvSpPr>
          <p:cNvPr id="30" name="Rectangle 29"/>
          <p:cNvSpPr/>
          <p:nvPr/>
        </p:nvSpPr>
        <p:spPr>
          <a:xfrm>
            <a:off x="7205472"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51192" y="2057400"/>
            <a:ext cx="2157984" cy="365759"/>
          </a:xfrm>
          <a:prstGeom prst="rect">
            <a:avLst/>
          </a:prstGeom>
          <a:noFill/>
        </p:spPr>
        <p:txBody>
          <a:bodyPr wrap="square">
            <a:spAutoFit/>
          </a:bodyPr>
          <a:lstStyle/>
          <a:p>
            <a:pPr algn="l"/>
            <a:r>
              <a:rPr sz="1200" b="0">
                <a:solidFill>
                  <a:srgbClr val="1A1A2E"/>
                </a:solidFill>
                <a:latin typeface="Calibri"/>
              </a:rPr>
              <a:t>价值链DD+气候转型计划+民事赔偿</a:t>
            </a:r>
          </a:p>
        </p:txBody>
      </p:sp>
      <p:sp>
        <p:nvSpPr>
          <p:cNvPr id="32" name="Rectangle 31"/>
          <p:cNvSpPr/>
          <p:nvPr/>
        </p:nvSpPr>
        <p:spPr>
          <a:xfrm>
            <a:off x="9454896"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00616" y="2057400"/>
            <a:ext cx="2157984" cy="365759"/>
          </a:xfrm>
          <a:prstGeom prst="rect">
            <a:avLst/>
          </a:prstGeom>
          <a:noFill/>
        </p:spPr>
        <p:txBody>
          <a:bodyPr wrap="square">
            <a:spAutoFit/>
          </a:bodyPr>
          <a:lstStyle/>
          <a:p>
            <a:pPr algn="l"/>
            <a:r>
              <a:rPr sz="1200" b="0">
                <a:solidFill>
                  <a:srgbClr val="1A1A2E"/>
                </a:solidFill>
                <a:latin typeface="Calibri"/>
              </a:rPr>
              <a:t>未定（各成员国执行）</a:t>
            </a:r>
          </a:p>
        </p:txBody>
      </p:sp>
      <p:sp>
        <p:nvSpPr>
          <p:cNvPr id="34" name="Rectangle 33"/>
          <p:cNvSpPr/>
          <p:nvPr/>
        </p:nvSpPr>
        <p:spPr>
          <a:xfrm>
            <a:off x="457200"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2496312"/>
            <a:ext cx="2157984" cy="365759"/>
          </a:xfrm>
          <a:prstGeom prst="rect">
            <a:avLst/>
          </a:prstGeom>
          <a:noFill/>
        </p:spPr>
        <p:txBody>
          <a:bodyPr wrap="square">
            <a:spAutoFit/>
          </a:bodyPr>
          <a:lstStyle/>
          <a:p>
            <a:pPr algn="l"/>
            <a:r>
              <a:rPr sz="1200" b="0">
                <a:solidFill>
                  <a:srgbClr val="1A1A2E"/>
                </a:solidFill>
                <a:latin typeface="Calibri"/>
              </a:rPr>
              <a:t>🇺🇸 UFLPA</a:t>
            </a:r>
          </a:p>
        </p:txBody>
      </p:sp>
      <p:sp>
        <p:nvSpPr>
          <p:cNvPr id="36" name="Rectangle 35"/>
          <p:cNvSpPr/>
          <p:nvPr/>
        </p:nvSpPr>
        <p:spPr>
          <a:xfrm>
            <a:off x="2706624"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52344" y="2496312"/>
            <a:ext cx="2157984" cy="365759"/>
          </a:xfrm>
          <a:prstGeom prst="rect">
            <a:avLst/>
          </a:prstGeom>
          <a:noFill/>
        </p:spPr>
        <p:txBody>
          <a:bodyPr wrap="square">
            <a:spAutoFit/>
          </a:bodyPr>
          <a:lstStyle/>
          <a:p>
            <a:pPr algn="l"/>
            <a:r>
              <a:rPr sz="1200" b="0">
                <a:solidFill>
                  <a:srgbClr val="1A1A2E"/>
                </a:solidFill>
                <a:latin typeface="Calibri"/>
              </a:rPr>
              <a:t>2022年</a:t>
            </a:r>
          </a:p>
        </p:txBody>
      </p:sp>
      <p:sp>
        <p:nvSpPr>
          <p:cNvPr id="38" name="Rectangle 37"/>
          <p:cNvSpPr/>
          <p:nvPr/>
        </p:nvSpPr>
        <p:spPr>
          <a:xfrm>
            <a:off x="4956048"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01768" y="2496312"/>
            <a:ext cx="2157984" cy="365759"/>
          </a:xfrm>
          <a:prstGeom prst="rect">
            <a:avLst/>
          </a:prstGeom>
          <a:noFill/>
        </p:spPr>
        <p:txBody>
          <a:bodyPr wrap="square">
            <a:spAutoFit/>
          </a:bodyPr>
          <a:lstStyle/>
          <a:p>
            <a:pPr algn="l"/>
            <a:r>
              <a:rPr sz="1200" b="0">
                <a:solidFill>
                  <a:srgbClr val="1A1A2E"/>
                </a:solidFill>
                <a:latin typeface="Calibri"/>
              </a:rPr>
              <a:t>所有进口商</a:t>
            </a:r>
          </a:p>
        </p:txBody>
      </p:sp>
      <p:sp>
        <p:nvSpPr>
          <p:cNvPr id="40" name="Rectangle 39"/>
          <p:cNvSpPr/>
          <p:nvPr/>
        </p:nvSpPr>
        <p:spPr>
          <a:xfrm>
            <a:off x="7205472"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51192" y="2496312"/>
            <a:ext cx="2157984" cy="365759"/>
          </a:xfrm>
          <a:prstGeom prst="rect">
            <a:avLst/>
          </a:prstGeom>
          <a:noFill/>
        </p:spPr>
        <p:txBody>
          <a:bodyPr wrap="square">
            <a:spAutoFit/>
          </a:bodyPr>
          <a:lstStyle/>
          <a:p>
            <a:pPr algn="l"/>
            <a:r>
              <a:rPr sz="1200" b="0">
                <a:solidFill>
                  <a:srgbClr val="1A1A2E"/>
                </a:solidFill>
                <a:latin typeface="Calibri"/>
              </a:rPr>
              <a:t>新疆商品举证责任倒置</a:t>
            </a:r>
          </a:p>
        </p:txBody>
      </p:sp>
      <p:sp>
        <p:nvSpPr>
          <p:cNvPr id="42" name="Rectangle 41"/>
          <p:cNvSpPr/>
          <p:nvPr/>
        </p:nvSpPr>
        <p:spPr>
          <a:xfrm>
            <a:off x="9454896"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500616" y="2496312"/>
            <a:ext cx="2157984" cy="365759"/>
          </a:xfrm>
          <a:prstGeom prst="rect">
            <a:avLst/>
          </a:prstGeom>
          <a:noFill/>
        </p:spPr>
        <p:txBody>
          <a:bodyPr wrap="square">
            <a:spAutoFit/>
          </a:bodyPr>
          <a:lstStyle/>
          <a:p>
            <a:pPr algn="l"/>
            <a:r>
              <a:rPr sz="1200" b="0">
                <a:solidFill>
                  <a:srgbClr val="1A1A2E"/>
                </a:solidFill>
                <a:latin typeface="Calibri"/>
              </a:rPr>
              <a:t>货物扣押+法律费用</a:t>
            </a:r>
          </a:p>
        </p:txBody>
      </p:sp>
      <p:sp>
        <p:nvSpPr>
          <p:cNvPr id="44" name="Rectangle 43"/>
          <p:cNvSpPr/>
          <p:nvPr/>
        </p:nvSpPr>
        <p:spPr>
          <a:xfrm>
            <a:off x="457200"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2920" y="2935224"/>
            <a:ext cx="2157984" cy="365759"/>
          </a:xfrm>
          <a:prstGeom prst="rect">
            <a:avLst/>
          </a:prstGeom>
          <a:noFill/>
        </p:spPr>
        <p:txBody>
          <a:bodyPr wrap="square">
            <a:spAutoFit/>
          </a:bodyPr>
          <a:lstStyle/>
          <a:p>
            <a:pPr algn="l"/>
            <a:r>
              <a:rPr sz="1200" b="0">
                <a:solidFill>
                  <a:srgbClr val="1A1A2E"/>
                </a:solidFill>
                <a:latin typeface="Calibri"/>
              </a:rPr>
              <a:t>🇬🇧 英国 MSA</a:t>
            </a:r>
          </a:p>
        </p:txBody>
      </p:sp>
      <p:sp>
        <p:nvSpPr>
          <p:cNvPr id="46" name="Rectangle 45"/>
          <p:cNvSpPr/>
          <p:nvPr/>
        </p:nvSpPr>
        <p:spPr>
          <a:xfrm>
            <a:off x="2706624"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52344" y="2935224"/>
            <a:ext cx="2157984" cy="365759"/>
          </a:xfrm>
          <a:prstGeom prst="rect">
            <a:avLst/>
          </a:prstGeom>
          <a:noFill/>
        </p:spPr>
        <p:txBody>
          <a:bodyPr wrap="square">
            <a:spAutoFit/>
          </a:bodyPr>
          <a:lstStyle/>
          <a:p>
            <a:pPr algn="l"/>
            <a:r>
              <a:rPr sz="1200" b="0">
                <a:solidFill>
                  <a:srgbClr val="1A1A2E"/>
                </a:solidFill>
                <a:latin typeface="Calibri"/>
              </a:rPr>
              <a:t>2015年</a:t>
            </a:r>
          </a:p>
        </p:txBody>
      </p:sp>
      <p:sp>
        <p:nvSpPr>
          <p:cNvPr id="48" name="Rectangle 47"/>
          <p:cNvSpPr/>
          <p:nvPr/>
        </p:nvSpPr>
        <p:spPr>
          <a:xfrm>
            <a:off x="4956048"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01768" y="2935224"/>
            <a:ext cx="2157984" cy="365759"/>
          </a:xfrm>
          <a:prstGeom prst="rect">
            <a:avLst/>
          </a:prstGeom>
          <a:noFill/>
        </p:spPr>
        <p:txBody>
          <a:bodyPr wrap="square">
            <a:spAutoFit/>
          </a:bodyPr>
          <a:lstStyle/>
          <a:p>
            <a:pPr algn="l"/>
            <a:r>
              <a:rPr sz="1200" b="0">
                <a:solidFill>
                  <a:srgbClr val="1A1A2E"/>
                </a:solidFill>
                <a:latin typeface="Calibri"/>
              </a:rPr>
              <a:t>营业额≥3,600万英镑</a:t>
            </a:r>
          </a:p>
        </p:txBody>
      </p:sp>
      <p:sp>
        <p:nvSpPr>
          <p:cNvPr id="50" name="Rectangle 49"/>
          <p:cNvSpPr/>
          <p:nvPr/>
        </p:nvSpPr>
        <p:spPr>
          <a:xfrm>
            <a:off x="7205472"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251192" y="2935224"/>
            <a:ext cx="2157984" cy="365759"/>
          </a:xfrm>
          <a:prstGeom prst="rect">
            <a:avLst/>
          </a:prstGeom>
          <a:noFill/>
        </p:spPr>
        <p:txBody>
          <a:bodyPr wrap="square">
            <a:spAutoFit/>
          </a:bodyPr>
          <a:lstStyle/>
          <a:p>
            <a:pPr algn="l"/>
            <a:r>
              <a:rPr sz="1200" b="0">
                <a:solidFill>
                  <a:srgbClr val="1A1A2E"/>
                </a:solidFill>
                <a:latin typeface="Calibri"/>
              </a:rPr>
              <a:t>年度供应链透明度声明</a:t>
            </a:r>
          </a:p>
        </p:txBody>
      </p:sp>
      <p:sp>
        <p:nvSpPr>
          <p:cNvPr id="52" name="Rectangle 51"/>
          <p:cNvSpPr/>
          <p:nvPr/>
        </p:nvSpPr>
        <p:spPr>
          <a:xfrm>
            <a:off x="9454896"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500616" y="2935224"/>
            <a:ext cx="2157984" cy="365759"/>
          </a:xfrm>
          <a:prstGeom prst="rect">
            <a:avLst/>
          </a:prstGeom>
          <a:noFill/>
        </p:spPr>
        <p:txBody>
          <a:bodyPr wrap="square">
            <a:spAutoFit/>
          </a:bodyPr>
          <a:lstStyle/>
          <a:p>
            <a:pPr algn="l"/>
            <a:r>
              <a:rPr sz="1200" b="0">
                <a:solidFill>
                  <a:srgbClr val="1A1A2E"/>
                </a:solidFill>
                <a:latin typeface="Calibri"/>
              </a:rPr>
              <a:t>目前无直接罚款</a:t>
            </a:r>
          </a:p>
        </p:txBody>
      </p:sp>
      <p:sp>
        <p:nvSpPr>
          <p:cNvPr id="54" name="Rectangle 53"/>
          <p:cNvSpPr/>
          <p:nvPr/>
        </p:nvSpPr>
        <p:spPr>
          <a:xfrm>
            <a:off x="457200"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2920" y="3374136"/>
            <a:ext cx="2157984" cy="365759"/>
          </a:xfrm>
          <a:prstGeom prst="rect">
            <a:avLst/>
          </a:prstGeom>
          <a:noFill/>
        </p:spPr>
        <p:txBody>
          <a:bodyPr wrap="square">
            <a:spAutoFit/>
          </a:bodyPr>
          <a:lstStyle/>
          <a:p>
            <a:pPr algn="l"/>
            <a:r>
              <a:rPr sz="1200" b="0">
                <a:solidFill>
                  <a:srgbClr val="1A1A2E"/>
                </a:solidFill>
                <a:latin typeface="Calibri"/>
              </a:rPr>
              <a:t>🇦🇺 澳大利亚 MSA</a:t>
            </a:r>
          </a:p>
        </p:txBody>
      </p:sp>
      <p:sp>
        <p:nvSpPr>
          <p:cNvPr id="56" name="Rectangle 55"/>
          <p:cNvSpPr/>
          <p:nvPr/>
        </p:nvSpPr>
        <p:spPr>
          <a:xfrm>
            <a:off x="2706624"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52344" y="3374136"/>
            <a:ext cx="2157984" cy="365759"/>
          </a:xfrm>
          <a:prstGeom prst="rect">
            <a:avLst/>
          </a:prstGeom>
          <a:noFill/>
        </p:spPr>
        <p:txBody>
          <a:bodyPr wrap="square">
            <a:spAutoFit/>
          </a:bodyPr>
          <a:lstStyle/>
          <a:p>
            <a:pPr algn="l"/>
            <a:r>
              <a:rPr sz="1200" b="0">
                <a:solidFill>
                  <a:srgbClr val="1A1A2E"/>
                </a:solidFill>
                <a:latin typeface="Calibri"/>
              </a:rPr>
              <a:t>2019年</a:t>
            </a:r>
          </a:p>
        </p:txBody>
      </p:sp>
      <p:sp>
        <p:nvSpPr>
          <p:cNvPr id="58" name="Rectangle 57"/>
          <p:cNvSpPr/>
          <p:nvPr/>
        </p:nvSpPr>
        <p:spPr>
          <a:xfrm>
            <a:off x="4956048"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01768" y="3374136"/>
            <a:ext cx="2157984" cy="365759"/>
          </a:xfrm>
          <a:prstGeom prst="rect">
            <a:avLst/>
          </a:prstGeom>
          <a:noFill/>
        </p:spPr>
        <p:txBody>
          <a:bodyPr wrap="square">
            <a:spAutoFit/>
          </a:bodyPr>
          <a:lstStyle/>
          <a:p>
            <a:pPr algn="l"/>
            <a:r>
              <a:rPr sz="1200" b="0">
                <a:solidFill>
                  <a:srgbClr val="1A1A2E"/>
                </a:solidFill>
                <a:latin typeface="Calibri"/>
              </a:rPr>
              <a:t>收入≥1亿澳元</a:t>
            </a:r>
          </a:p>
        </p:txBody>
      </p:sp>
      <p:sp>
        <p:nvSpPr>
          <p:cNvPr id="60" name="Rectangle 59"/>
          <p:cNvSpPr/>
          <p:nvPr/>
        </p:nvSpPr>
        <p:spPr>
          <a:xfrm>
            <a:off x="7205472"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251192" y="3374136"/>
            <a:ext cx="2157984" cy="365759"/>
          </a:xfrm>
          <a:prstGeom prst="rect">
            <a:avLst/>
          </a:prstGeom>
          <a:noFill/>
        </p:spPr>
        <p:txBody>
          <a:bodyPr wrap="square">
            <a:spAutoFit/>
          </a:bodyPr>
          <a:lstStyle/>
          <a:p>
            <a:pPr algn="l"/>
            <a:r>
              <a:rPr sz="1200" b="0">
                <a:solidFill>
                  <a:srgbClr val="1A1A2E"/>
                </a:solidFill>
                <a:latin typeface="Calibri"/>
              </a:rPr>
              <a:t>年度声明须董事会签署</a:t>
            </a:r>
          </a:p>
        </p:txBody>
      </p:sp>
      <p:sp>
        <p:nvSpPr>
          <p:cNvPr id="62" name="Rectangle 61"/>
          <p:cNvSpPr/>
          <p:nvPr/>
        </p:nvSpPr>
        <p:spPr>
          <a:xfrm>
            <a:off x="9454896"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500616" y="3374136"/>
            <a:ext cx="2157984" cy="365759"/>
          </a:xfrm>
          <a:prstGeom prst="rect">
            <a:avLst/>
          </a:prstGeom>
          <a:noFill/>
        </p:spPr>
        <p:txBody>
          <a:bodyPr wrap="square">
            <a:spAutoFit/>
          </a:bodyPr>
          <a:lstStyle/>
          <a:p>
            <a:pPr algn="l"/>
            <a:r>
              <a:rPr sz="1200" b="0">
                <a:solidFill>
                  <a:srgbClr val="1A1A2E"/>
                </a:solidFill>
                <a:latin typeface="Calibri"/>
              </a:rPr>
              <a:t>公开点名批评</a:t>
            </a:r>
          </a:p>
        </p:txBody>
      </p:sp>
      <p:sp>
        <p:nvSpPr>
          <p:cNvPr id="64" name="Rectangle 63"/>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监管趋势的核心信号</a:t>
            </a:r>
          </a:p>
        </p:txBody>
      </p:sp>
      <p:sp>
        <p:nvSpPr>
          <p:cNvPr id="4" name="Rectangle 3"/>
          <p:cNvSpPr/>
          <p:nvPr/>
        </p:nvSpPr>
        <p:spPr>
          <a:xfrm>
            <a:off x="457200" y="1188720"/>
            <a:ext cx="11247120" cy="1371600"/>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34440"/>
            <a:ext cx="10972800" cy="1280160"/>
          </a:xfrm>
          <a:prstGeom prst="rect">
            <a:avLst/>
          </a:prstGeom>
          <a:noFill/>
        </p:spPr>
        <p:txBody>
          <a:bodyPr wrap="square">
            <a:spAutoFit/>
          </a:bodyPr>
          <a:lstStyle/>
          <a:p>
            <a:pPr algn="ctr"/>
            <a:r>
              <a:rPr sz="2000" b="1">
                <a:solidFill>
                  <a:srgbClr val="FFFFFF"/>
                </a:solidFill>
                <a:latin typeface="Calibri"/>
              </a:rPr>
              <a:t>「合规」正在从自愿承诺变为法律强制义务——且覆盖范围持续扩大</a:t>
            </a:r>
          </a:p>
        </p:txBody>
      </p:sp>
      <p:sp>
        <p:nvSpPr>
          <p:cNvPr id="6" name="TextBox 5"/>
          <p:cNvSpPr txBox="1"/>
          <p:nvPr/>
        </p:nvSpPr>
        <p:spPr>
          <a:xfrm>
            <a:off x="457200" y="2743200"/>
            <a:ext cx="11247120" cy="3474720"/>
          </a:xfrm>
          <a:prstGeom prst="rect">
            <a:avLst/>
          </a:prstGeom>
          <a:noFill/>
        </p:spPr>
        <p:txBody>
          <a:bodyPr wrap="square">
            <a:spAutoFit/>
          </a:bodyPr>
          <a:lstStyle/>
          <a:p>
            <a:pPr>
              <a:spcBef>
                <a:spcPts val="400"/>
              </a:spcBef>
            </a:pPr>
            <a:r>
              <a:rPr sz="1600">
                <a:solidFill>
                  <a:srgbClr val="1A1A2E"/>
                </a:solidFill>
                <a:latin typeface="Calibri"/>
              </a:rPr>
              <a:t>• ✅  现有法规已覆盖我们的主要客户所在市场（德国、欧盟、英国、美国、澳大利亚）</a:t>
            </a:r>
          </a:p>
          <a:p>
            <a:pPr>
              <a:spcBef>
                <a:spcPts val="400"/>
              </a:spcBef>
            </a:pPr>
            <a:r>
              <a:rPr sz="1600">
                <a:solidFill>
                  <a:srgbClr val="1A1A2E"/>
                </a:solidFill>
                <a:latin typeface="Calibri"/>
              </a:rPr>
              <a:t>• ✅  客户的供应链DD义务将通过合同条款和审核要求直接传导至我们</a:t>
            </a:r>
          </a:p>
          <a:p>
            <a:pPr>
              <a:spcBef>
                <a:spcPts val="400"/>
              </a:spcBef>
            </a:pPr>
            <a:r>
              <a:rPr sz="1600">
                <a:solidFill>
                  <a:srgbClr val="1A1A2E"/>
                </a:solidFill>
                <a:latin typeface="Calibri"/>
              </a:rPr>
              <a:t>• ✅  无法通过客户审核 = 丢失订单，而非仅仅被扣罚款</a:t>
            </a:r>
          </a:p>
          <a:p>
            <a:pPr>
              <a:spcBef>
                <a:spcPts val="400"/>
              </a:spcBef>
            </a:pPr>
            <a:r>
              <a:rPr sz="1600">
                <a:solidFill>
                  <a:srgbClr val="1A1A2E"/>
                </a:solidFill>
                <a:latin typeface="Calibri"/>
              </a:rPr>
              <a:t>• ⚠️   CSDDD民事赔偿条款意味着供应链受害者可在欧盟法院直接起诉我们的客户——客户压力倍增</a:t>
            </a:r>
          </a:p>
        </p:txBody>
      </p:sp>
      <p:sp>
        <p:nvSpPr>
          <p:cNvPr id="7" name="Rectangle 6"/>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0392B"/>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058400" cy="1371600"/>
          </a:xfrm>
          <a:prstGeom prst="rect">
            <a:avLst/>
          </a:prstGeom>
          <a:noFill/>
        </p:spPr>
        <p:txBody>
          <a:bodyPr wrap="square">
            <a:spAutoFit/>
          </a:bodyPr>
          <a:lstStyle/>
          <a:p>
            <a:pPr algn="ctr"/>
            <a:r>
              <a:rPr sz="4000" b="1">
                <a:solidFill>
                  <a:srgbClr val="FFFFFF"/>
                </a:solidFill>
                <a:latin typeface="Calibri"/>
              </a:rPr>
              <a:t>第三部分：不合规的真实代价</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三个典型案例：代价有多高？</a:t>
            </a:r>
          </a:p>
        </p:txBody>
      </p:sp>
      <p:sp>
        <p:nvSpPr>
          <p:cNvPr id="4" name="Rectangle 3"/>
          <p:cNvSpPr/>
          <p:nvPr/>
        </p:nvSpPr>
        <p:spPr>
          <a:xfrm>
            <a:off x="457200"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8" y="1188720"/>
            <a:ext cx="2157984" cy="347472"/>
          </a:xfrm>
          <a:prstGeom prst="rect">
            <a:avLst/>
          </a:prstGeom>
          <a:noFill/>
        </p:spPr>
        <p:txBody>
          <a:bodyPr wrap="square">
            <a:spAutoFit/>
          </a:bodyPr>
          <a:lstStyle/>
          <a:p>
            <a:pPr algn="l"/>
            <a:r>
              <a:rPr sz="1300" b="1">
                <a:solidFill>
                  <a:srgbClr val="FFFFFF"/>
                </a:solidFill>
                <a:latin typeface="Calibri"/>
              </a:rPr>
              <a:t>案例</a:t>
            </a:r>
          </a:p>
        </p:txBody>
      </p:sp>
      <p:sp>
        <p:nvSpPr>
          <p:cNvPr id="6" name="Rectangle 5"/>
          <p:cNvSpPr/>
          <p:nvPr/>
        </p:nvSpPr>
        <p:spPr>
          <a:xfrm>
            <a:off x="2706624"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24912" y="1188720"/>
            <a:ext cx="2157984" cy="347472"/>
          </a:xfrm>
          <a:prstGeom prst="rect">
            <a:avLst/>
          </a:prstGeom>
          <a:noFill/>
        </p:spPr>
        <p:txBody>
          <a:bodyPr wrap="square">
            <a:spAutoFit/>
          </a:bodyPr>
          <a:lstStyle/>
          <a:p>
            <a:pPr algn="l"/>
            <a:r>
              <a:rPr sz="1300" b="1">
                <a:solidFill>
                  <a:srgbClr val="FFFFFF"/>
                </a:solidFill>
                <a:latin typeface="Calibri"/>
              </a:rPr>
              <a:t>事件</a:t>
            </a:r>
          </a:p>
        </p:txBody>
      </p:sp>
      <p:sp>
        <p:nvSpPr>
          <p:cNvPr id="8" name="Rectangle 7"/>
          <p:cNvSpPr/>
          <p:nvPr/>
        </p:nvSpPr>
        <p:spPr>
          <a:xfrm>
            <a:off x="4956048"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74336" y="1188720"/>
            <a:ext cx="2157984" cy="347472"/>
          </a:xfrm>
          <a:prstGeom prst="rect">
            <a:avLst/>
          </a:prstGeom>
          <a:noFill/>
        </p:spPr>
        <p:txBody>
          <a:bodyPr wrap="square">
            <a:spAutoFit/>
          </a:bodyPr>
          <a:lstStyle/>
          <a:p>
            <a:pPr algn="l"/>
            <a:r>
              <a:rPr sz="1300" b="1">
                <a:solidFill>
                  <a:srgbClr val="FFFFFF"/>
                </a:solidFill>
                <a:latin typeface="Calibri"/>
              </a:rPr>
              <a:t>直接损失</a:t>
            </a:r>
          </a:p>
        </p:txBody>
      </p:sp>
      <p:sp>
        <p:nvSpPr>
          <p:cNvPr id="10" name="Rectangle 9"/>
          <p:cNvSpPr/>
          <p:nvPr/>
        </p:nvSpPr>
        <p:spPr>
          <a:xfrm>
            <a:off x="7205472"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0" y="1188720"/>
            <a:ext cx="2157984" cy="347472"/>
          </a:xfrm>
          <a:prstGeom prst="rect">
            <a:avLst/>
          </a:prstGeom>
          <a:noFill/>
        </p:spPr>
        <p:txBody>
          <a:bodyPr wrap="square">
            <a:spAutoFit/>
          </a:bodyPr>
          <a:lstStyle/>
          <a:p>
            <a:pPr algn="l"/>
            <a:r>
              <a:rPr sz="1300" b="1">
                <a:solidFill>
                  <a:srgbClr val="FFFFFF"/>
                </a:solidFill>
                <a:latin typeface="Calibri"/>
              </a:rPr>
              <a:t>间接影响</a:t>
            </a:r>
          </a:p>
        </p:txBody>
      </p:sp>
      <p:sp>
        <p:nvSpPr>
          <p:cNvPr id="12" name="Rectangle 11"/>
          <p:cNvSpPr/>
          <p:nvPr/>
        </p:nvSpPr>
        <p:spPr>
          <a:xfrm>
            <a:off x="9454896"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73184" y="1188720"/>
            <a:ext cx="2157984" cy="347472"/>
          </a:xfrm>
          <a:prstGeom prst="rect">
            <a:avLst/>
          </a:prstGeom>
          <a:noFill/>
        </p:spPr>
        <p:txBody>
          <a:bodyPr wrap="square">
            <a:spAutoFit/>
          </a:bodyPr>
          <a:lstStyle/>
          <a:p>
            <a:pPr algn="l"/>
            <a:r>
              <a:rPr sz="1300" b="1">
                <a:solidFill>
                  <a:srgbClr val="FFFFFF"/>
                </a:solidFill>
                <a:latin typeface="Calibri"/>
              </a:rPr>
              <a:t>教训</a:t>
            </a:r>
          </a:p>
        </p:txBody>
      </p:sp>
      <p:sp>
        <p:nvSpPr>
          <p:cNvPr id="14" name="Rectangle 13"/>
          <p:cNvSpPr/>
          <p:nvPr/>
        </p:nvSpPr>
        <p:spPr>
          <a:xfrm>
            <a:off x="457200"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618488"/>
            <a:ext cx="2157984" cy="365759"/>
          </a:xfrm>
          <a:prstGeom prst="rect">
            <a:avLst/>
          </a:prstGeom>
          <a:noFill/>
        </p:spPr>
        <p:txBody>
          <a:bodyPr wrap="square">
            <a:spAutoFit/>
          </a:bodyPr>
          <a:lstStyle/>
          <a:p>
            <a:pPr algn="l"/>
            <a:r>
              <a:rPr sz="1200" b="0">
                <a:solidFill>
                  <a:srgbClr val="1A1A2E"/>
                </a:solidFill>
                <a:latin typeface="Calibri"/>
              </a:rPr>
              <a:t>Rana Plaza
（2013年）</a:t>
            </a:r>
          </a:p>
        </p:txBody>
      </p:sp>
      <p:sp>
        <p:nvSpPr>
          <p:cNvPr id="16" name="Rectangle 15"/>
          <p:cNvSpPr/>
          <p:nvPr/>
        </p:nvSpPr>
        <p:spPr>
          <a:xfrm>
            <a:off x="2706624"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52344" y="1618488"/>
            <a:ext cx="2157984" cy="365759"/>
          </a:xfrm>
          <a:prstGeom prst="rect">
            <a:avLst/>
          </a:prstGeom>
          <a:noFill/>
        </p:spPr>
        <p:txBody>
          <a:bodyPr wrap="square">
            <a:spAutoFit/>
          </a:bodyPr>
          <a:lstStyle/>
          <a:p>
            <a:pPr algn="l"/>
            <a:r>
              <a:rPr sz="1200" b="0">
                <a:solidFill>
                  <a:srgbClr val="1A1A2E"/>
                </a:solidFill>
                <a:latin typeface="Calibri"/>
              </a:rPr>
              <a:t>孟加拉国服装厂大楼坍塌
1,134人罹难</a:t>
            </a:r>
          </a:p>
        </p:txBody>
      </p:sp>
      <p:sp>
        <p:nvSpPr>
          <p:cNvPr id="18" name="Rectangle 17"/>
          <p:cNvSpPr/>
          <p:nvPr/>
        </p:nvSpPr>
        <p:spPr>
          <a:xfrm>
            <a:off x="4956048"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01768" y="1618488"/>
            <a:ext cx="2157984" cy="365759"/>
          </a:xfrm>
          <a:prstGeom prst="rect">
            <a:avLst/>
          </a:prstGeom>
          <a:noFill/>
        </p:spPr>
        <p:txBody>
          <a:bodyPr wrap="square">
            <a:spAutoFit/>
          </a:bodyPr>
          <a:lstStyle/>
          <a:p>
            <a:pPr algn="l"/>
            <a:r>
              <a:rPr sz="1200" b="0">
                <a:solidFill>
                  <a:srgbClr val="1A1A2E"/>
                </a:solidFill>
                <a:latin typeface="Calibri"/>
              </a:rPr>
              <a:t>品牌方赔偿
&gt;3,000万美元</a:t>
            </a:r>
          </a:p>
        </p:txBody>
      </p:sp>
      <p:sp>
        <p:nvSpPr>
          <p:cNvPr id="20" name="Rectangle 19"/>
          <p:cNvSpPr/>
          <p:nvPr/>
        </p:nvSpPr>
        <p:spPr>
          <a:xfrm>
            <a:off x="7205472"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51192" y="1618488"/>
            <a:ext cx="2157984" cy="365759"/>
          </a:xfrm>
          <a:prstGeom prst="rect">
            <a:avLst/>
          </a:prstGeom>
          <a:noFill/>
        </p:spPr>
        <p:txBody>
          <a:bodyPr wrap="square">
            <a:spAutoFit/>
          </a:bodyPr>
          <a:lstStyle/>
          <a:p>
            <a:pPr algn="l"/>
            <a:r>
              <a:rPr sz="1200" b="0">
                <a:solidFill>
                  <a:srgbClr val="1A1A2E"/>
                </a:solidFill>
                <a:latin typeface="Calibri"/>
              </a:rPr>
              <a:t>全球抵制；
多家品牌市值受损</a:t>
            </a:r>
          </a:p>
        </p:txBody>
      </p:sp>
      <p:sp>
        <p:nvSpPr>
          <p:cNvPr id="22" name="Rectangle 21"/>
          <p:cNvSpPr/>
          <p:nvPr/>
        </p:nvSpPr>
        <p:spPr>
          <a:xfrm>
            <a:off x="9454896"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0616" y="1618488"/>
            <a:ext cx="2157984" cy="365759"/>
          </a:xfrm>
          <a:prstGeom prst="rect">
            <a:avLst/>
          </a:prstGeom>
          <a:noFill/>
        </p:spPr>
        <p:txBody>
          <a:bodyPr wrap="square">
            <a:spAutoFit/>
          </a:bodyPr>
          <a:lstStyle/>
          <a:p>
            <a:pPr algn="l"/>
            <a:r>
              <a:rPr sz="1200" b="0">
                <a:solidFill>
                  <a:srgbClr val="1A1A2E"/>
                </a:solidFill>
                <a:latin typeface="Calibri"/>
              </a:rPr>
              <a:t>供应商安全审核
不能流于形式</a:t>
            </a:r>
          </a:p>
        </p:txBody>
      </p:sp>
      <p:sp>
        <p:nvSpPr>
          <p:cNvPr id="24" name="Rectangle 23"/>
          <p:cNvSpPr/>
          <p:nvPr/>
        </p:nvSpPr>
        <p:spPr>
          <a:xfrm>
            <a:off x="457200"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2057400"/>
            <a:ext cx="2157984" cy="365759"/>
          </a:xfrm>
          <a:prstGeom prst="rect">
            <a:avLst/>
          </a:prstGeom>
          <a:noFill/>
        </p:spPr>
        <p:txBody>
          <a:bodyPr wrap="square">
            <a:spAutoFit/>
          </a:bodyPr>
          <a:lstStyle/>
          <a:p>
            <a:pPr algn="l"/>
            <a:r>
              <a:rPr sz="1200" b="0">
                <a:solidFill>
                  <a:srgbClr val="1A1A2E"/>
                </a:solidFill>
                <a:latin typeface="Calibri"/>
              </a:rPr>
              <a:t>大众柴油门
（2015年）</a:t>
            </a:r>
          </a:p>
        </p:txBody>
      </p:sp>
      <p:sp>
        <p:nvSpPr>
          <p:cNvPr id="26" name="Rectangle 25"/>
          <p:cNvSpPr/>
          <p:nvPr/>
        </p:nvSpPr>
        <p:spPr>
          <a:xfrm>
            <a:off x="2706624"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52344" y="2057400"/>
            <a:ext cx="2157984" cy="365759"/>
          </a:xfrm>
          <a:prstGeom prst="rect">
            <a:avLst/>
          </a:prstGeom>
          <a:noFill/>
        </p:spPr>
        <p:txBody>
          <a:bodyPr wrap="square">
            <a:spAutoFit/>
          </a:bodyPr>
          <a:lstStyle/>
          <a:p>
            <a:pPr algn="l"/>
            <a:r>
              <a:rPr sz="1200" b="0">
                <a:solidFill>
                  <a:srgbClr val="1A1A2E"/>
                </a:solidFill>
                <a:latin typeface="Calibri"/>
              </a:rPr>
              <a:t>排放测试造假
波及1,100万辆车</a:t>
            </a:r>
          </a:p>
        </p:txBody>
      </p:sp>
      <p:sp>
        <p:nvSpPr>
          <p:cNvPr id="28" name="Rectangle 27"/>
          <p:cNvSpPr/>
          <p:nvPr/>
        </p:nvSpPr>
        <p:spPr>
          <a:xfrm>
            <a:off x="4956048"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01768" y="2057400"/>
            <a:ext cx="2157984" cy="365759"/>
          </a:xfrm>
          <a:prstGeom prst="rect">
            <a:avLst/>
          </a:prstGeom>
          <a:noFill/>
        </p:spPr>
        <p:txBody>
          <a:bodyPr wrap="square">
            <a:spAutoFit/>
          </a:bodyPr>
          <a:lstStyle/>
          <a:p>
            <a:pPr algn="l"/>
            <a:r>
              <a:rPr sz="1200" b="0">
                <a:solidFill>
                  <a:srgbClr val="1A1A2E"/>
                </a:solidFill>
                <a:latin typeface="Calibri"/>
              </a:rPr>
              <a:t>罚款&gt;250亿美元
（美欧合计）</a:t>
            </a:r>
          </a:p>
        </p:txBody>
      </p:sp>
      <p:sp>
        <p:nvSpPr>
          <p:cNvPr id="30" name="Rectangle 29"/>
          <p:cNvSpPr/>
          <p:nvPr/>
        </p:nvSpPr>
        <p:spPr>
          <a:xfrm>
            <a:off x="7205472"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51192" y="2057400"/>
            <a:ext cx="2157984" cy="365759"/>
          </a:xfrm>
          <a:prstGeom prst="rect">
            <a:avLst/>
          </a:prstGeom>
          <a:noFill/>
        </p:spPr>
        <p:txBody>
          <a:bodyPr wrap="square">
            <a:spAutoFit/>
          </a:bodyPr>
          <a:lstStyle/>
          <a:p>
            <a:pPr algn="l"/>
            <a:r>
              <a:rPr sz="1200" b="0">
                <a:solidFill>
                  <a:srgbClr val="1A1A2E"/>
                </a:solidFill>
                <a:latin typeface="Calibri"/>
              </a:rPr>
              <a:t>品牌价值下滑；
CEO辞职</a:t>
            </a:r>
          </a:p>
        </p:txBody>
      </p:sp>
      <p:sp>
        <p:nvSpPr>
          <p:cNvPr id="32" name="Rectangle 31"/>
          <p:cNvSpPr/>
          <p:nvPr/>
        </p:nvSpPr>
        <p:spPr>
          <a:xfrm>
            <a:off x="9454896"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00616" y="2057400"/>
            <a:ext cx="2157984" cy="365759"/>
          </a:xfrm>
          <a:prstGeom prst="rect">
            <a:avLst/>
          </a:prstGeom>
          <a:noFill/>
        </p:spPr>
        <p:txBody>
          <a:bodyPr wrap="square">
            <a:spAutoFit/>
          </a:bodyPr>
          <a:lstStyle/>
          <a:p>
            <a:pPr algn="l"/>
            <a:r>
              <a:rPr sz="1200" b="0">
                <a:solidFill>
                  <a:srgbClr val="1A1A2E"/>
                </a:solidFill>
                <a:latin typeface="Calibri"/>
              </a:rPr>
              <a:t>供应链环境合规
必须可验证</a:t>
            </a:r>
          </a:p>
        </p:txBody>
      </p:sp>
      <p:sp>
        <p:nvSpPr>
          <p:cNvPr id="34" name="Rectangle 33"/>
          <p:cNvSpPr/>
          <p:nvPr/>
        </p:nvSpPr>
        <p:spPr>
          <a:xfrm>
            <a:off x="457200"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2496312"/>
            <a:ext cx="2157984" cy="365759"/>
          </a:xfrm>
          <a:prstGeom prst="rect">
            <a:avLst/>
          </a:prstGeom>
          <a:noFill/>
        </p:spPr>
        <p:txBody>
          <a:bodyPr wrap="square">
            <a:spAutoFit/>
          </a:bodyPr>
          <a:lstStyle/>
          <a:p>
            <a:pPr algn="l"/>
            <a:r>
              <a:rPr sz="1200" b="0">
                <a:solidFill>
                  <a:srgbClr val="1A1A2E"/>
                </a:solidFill>
                <a:latin typeface="Calibri"/>
              </a:rPr>
              <a:t>SolarWinds
（2020年）</a:t>
            </a:r>
          </a:p>
        </p:txBody>
      </p:sp>
      <p:sp>
        <p:nvSpPr>
          <p:cNvPr id="36" name="Rectangle 35"/>
          <p:cNvSpPr/>
          <p:nvPr/>
        </p:nvSpPr>
        <p:spPr>
          <a:xfrm>
            <a:off x="2706624"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52344" y="2496312"/>
            <a:ext cx="2157984" cy="365759"/>
          </a:xfrm>
          <a:prstGeom prst="rect">
            <a:avLst/>
          </a:prstGeom>
          <a:noFill/>
        </p:spPr>
        <p:txBody>
          <a:bodyPr wrap="square">
            <a:spAutoFit/>
          </a:bodyPr>
          <a:lstStyle/>
          <a:p>
            <a:pPr algn="l"/>
            <a:r>
              <a:rPr sz="1200" b="0">
                <a:solidFill>
                  <a:srgbClr val="1A1A2E"/>
                </a:solidFill>
                <a:latin typeface="Calibri"/>
              </a:rPr>
              <a:t>供应商软件更新
植入后门程序</a:t>
            </a:r>
          </a:p>
        </p:txBody>
      </p:sp>
      <p:sp>
        <p:nvSpPr>
          <p:cNvPr id="38" name="Rectangle 37"/>
          <p:cNvSpPr/>
          <p:nvPr/>
        </p:nvSpPr>
        <p:spPr>
          <a:xfrm>
            <a:off x="4956048"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01768" y="2496312"/>
            <a:ext cx="2157984" cy="365759"/>
          </a:xfrm>
          <a:prstGeom prst="rect">
            <a:avLst/>
          </a:prstGeom>
          <a:noFill/>
        </p:spPr>
        <p:txBody>
          <a:bodyPr wrap="square">
            <a:spAutoFit/>
          </a:bodyPr>
          <a:lstStyle/>
          <a:p>
            <a:pPr algn="l"/>
            <a:r>
              <a:rPr sz="1200" b="0">
                <a:solidFill>
                  <a:srgbClr val="1A1A2E"/>
                </a:solidFill>
                <a:latin typeface="Calibri"/>
              </a:rPr>
              <a:t>受影响企业合计
损失&gt;10亿美元</a:t>
            </a:r>
          </a:p>
        </p:txBody>
      </p:sp>
      <p:sp>
        <p:nvSpPr>
          <p:cNvPr id="40" name="Rectangle 39"/>
          <p:cNvSpPr/>
          <p:nvPr/>
        </p:nvSpPr>
        <p:spPr>
          <a:xfrm>
            <a:off x="7205472"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51192" y="2496312"/>
            <a:ext cx="2157984" cy="365759"/>
          </a:xfrm>
          <a:prstGeom prst="rect">
            <a:avLst/>
          </a:prstGeom>
          <a:noFill/>
        </p:spPr>
        <p:txBody>
          <a:bodyPr wrap="square">
            <a:spAutoFit/>
          </a:bodyPr>
          <a:lstStyle/>
          <a:p>
            <a:pPr algn="l"/>
            <a:r>
              <a:rPr sz="1200" b="0">
                <a:solidFill>
                  <a:srgbClr val="1A1A2E"/>
                </a:solidFill>
                <a:latin typeface="Calibri"/>
              </a:rPr>
              <a:t>18,000+机构
受波及</a:t>
            </a:r>
          </a:p>
        </p:txBody>
      </p:sp>
      <p:sp>
        <p:nvSpPr>
          <p:cNvPr id="42" name="Rectangle 41"/>
          <p:cNvSpPr/>
          <p:nvPr/>
        </p:nvSpPr>
        <p:spPr>
          <a:xfrm>
            <a:off x="9454896"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500616" y="2496312"/>
            <a:ext cx="2157984" cy="365759"/>
          </a:xfrm>
          <a:prstGeom prst="rect">
            <a:avLst/>
          </a:prstGeom>
          <a:noFill/>
        </p:spPr>
        <p:txBody>
          <a:bodyPr wrap="square">
            <a:spAutoFit/>
          </a:bodyPr>
          <a:lstStyle/>
          <a:p>
            <a:pPr algn="l"/>
            <a:r>
              <a:rPr sz="1200" b="0">
                <a:solidFill>
                  <a:srgbClr val="1A1A2E"/>
                </a:solidFill>
                <a:latin typeface="Calibri"/>
              </a:rPr>
              <a:t>IT供应链安全
是采购决策关键</a:t>
            </a:r>
          </a:p>
        </p:txBody>
      </p:sp>
      <p:sp>
        <p:nvSpPr>
          <p:cNvPr id="44" name="Rectangle 43"/>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058400" cy="1371600"/>
          </a:xfrm>
          <a:prstGeom prst="rect">
            <a:avLst/>
          </a:prstGeom>
          <a:noFill/>
        </p:spPr>
        <p:txBody>
          <a:bodyPr wrap="square">
            <a:spAutoFit/>
          </a:bodyPr>
          <a:lstStyle/>
          <a:p>
            <a:pPr algn="ctr"/>
            <a:r>
              <a:rPr sz="4000" b="1">
                <a:solidFill>
                  <a:srgbClr val="FFFFFF"/>
                </a:solidFill>
                <a:latin typeface="Calibri"/>
              </a:rPr>
              <a:t>第四部分：同行在做什么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行业标杆企业的供应链DD实践</a:t>
            </a:r>
          </a:p>
        </p:txBody>
      </p:sp>
      <p:sp>
        <p:nvSpPr>
          <p:cNvPr id="4" name="Rectangle 3"/>
          <p:cNvSpPr/>
          <p:nvPr/>
        </p:nvSpPr>
        <p:spPr>
          <a:xfrm>
            <a:off x="457200" y="1143000"/>
            <a:ext cx="5394960" cy="411480"/>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70432"/>
            <a:ext cx="5212080" cy="365760"/>
          </a:xfrm>
          <a:prstGeom prst="rect">
            <a:avLst/>
          </a:prstGeom>
          <a:noFill/>
        </p:spPr>
        <p:txBody>
          <a:bodyPr wrap="square">
            <a:spAutoFit/>
          </a:bodyPr>
          <a:lstStyle/>
          <a:p>
            <a:pPr algn="l"/>
            <a:r>
              <a:rPr sz="1400" b="1">
                <a:solidFill>
                  <a:srgbClr val="FFFFFF"/>
                </a:solidFill>
                <a:latin typeface="Calibri"/>
              </a:rPr>
              <a:t>🏆  已建立成熟DD体系的企业</a:t>
            </a:r>
          </a:p>
        </p:txBody>
      </p:sp>
      <p:sp>
        <p:nvSpPr>
          <p:cNvPr id="6" name="TextBox 5"/>
          <p:cNvSpPr txBox="1"/>
          <p:nvPr/>
        </p:nvSpPr>
        <p:spPr>
          <a:xfrm>
            <a:off x="457200" y="1645920"/>
            <a:ext cx="5394960" cy="4572000"/>
          </a:xfrm>
          <a:prstGeom prst="rect">
            <a:avLst/>
          </a:prstGeom>
          <a:noFill/>
        </p:spPr>
        <p:txBody>
          <a:bodyPr wrap="square">
            <a:spAutoFit/>
          </a:bodyPr>
          <a:lstStyle/>
          <a:p>
            <a:pPr>
              <a:spcBef>
                <a:spcPts val="400"/>
              </a:spcBef>
            </a:pPr>
            <a:r>
              <a:rPr sz="1500">
                <a:solidFill>
                  <a:srgbClr val="1A1A2E"/>
                </a:solidFill>
                <a:latin typeface="Calibri"/>
              </a:rPr>
              <a:t>• Apple — 年度供应商责任报告；
  对&gt;600家供应商开展现场审核</a:t>
            </a:r>
          </a:p>
          <a:p>
            <a:pPr>
              <a:spcBef>
                <a:spcPts val="400"/>
              </a:spcBef>
            </a:pPr>
            <a:r>
              <a:rPr sz="1500">
                <a:solidFill>
                  <a:srgbClr val="1A1A2E"/>
                </a:solidFill>
                <a:latin typeface="Calibri"/>
              </a:rPr>
              <a:t>• IKEA — IWAY标准；
  强制供应商达标方可续约</a:t>
            </a:r>
          </a:p>
          <a:p>
            <a:pPr>
              <a:spcBef>
                <a:spcPts val="400"/>
              </a:spcBef>
            </a:pPr>
            <a:r>
              <a:rPr sz="1500">
                <a:solidFill>
                  <a:srgbClr val="1A1A2E"/>
                </a:solidFill>
                <a:latin typeface="Calibri"/>
              </a:rPr>
              <a:t>• Walmart — Project Gigaton;
  供应商碳足迹强制披露</a:t>
            </a:r>
          </a:p>
          <a:p>
            <a:pPr>
              <a:spcBef>
                <a:spcPts val="400"/>
              </a:spcBef>
            </a:pPr>
            <a:r>
              <a:rPr sz="1500">
                <a:solidFill>
                  <a:srgbClr val="1A1A2E"/>
                </a:solidFill>
                <a:latin typeface="Calibri"/>
              </a:rPr>
              <a:t>• H&amp;M — 战略供应商100%审核；
  Higg Index平台强制入驻</a:t>
            </a:r>
          </a:p>
        </p:txBody>
      </p:sp>
      <p:sp>
        <p:nvSpPr>
          <p:cNvPr id="7" name="Rectangle 6"/>
          <p:cNvSpPr/>
          <p:nvPr/>
        </p:nvSpPr>
        <p:spPr>
          <a:xfrm>
            <a:off x="6309360" y="1143000"/>
            <a:ext cx="5394960" cy="411480"/>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170432"/>
            <a:ext cx="5212080" cy="365760"/>
          </a:xfrm>
          <a:prstGeom prst="rect">
            <a:avLst/>
          </a:prstGeom>
          <a:noFill/>
        </p:spPr>
        <p:txBody>
          <a:bodyPr wrap="square">
            <a:spAutoFit/>
          </a:bodyPr>
          <a:lstStyle/>
          <a:p>
            <a:pPr algn="l"/>
            <a:r>
              <a:rPr sz="1400" b="1">
                <a:solidFill>
                  <a:srgbClr val="FFFFFF"/>
                </a:solidFill>
                <a:latin typeface="Calibri"/>
              </a:rPr>
              <a:t>📈  DD投入带来的可量化收益</a:t>
            </a:r>
          </a:p>
        </p:txBody>
      </p:sp>
      <p:sp>
        <p:nvSpPr>
          <p:cNvPr id="9" name="TextBox 8"/>
          <p:cNvSpPr txBox="1"/>
          <p:nvPr/>
        </p:nvSpPr>
        <p:spPr>
          <a:xfrm>
            <a:off x="6309360" y="1645920"/>
            <a:ext cx="5394960" cy="4572000"/>
          </a:xfrm>
          <a:prstGeom prst="rect">
            <a:avLst/>
          </a:prstGeom>
          <a:noFill/>
        </p:spPr>
        <p:txBody>
          <a:bodyPr wrap="square">
            <a:spAutoFit/>
          </a:bodyPr>
          <a:lstStyle/>
          <a:p>
            <a:pPr>
              <a:spcBef>
                <a:spcPts val="400"/>
              </a:spcBef>
            </a:pPr>
            <a:r>
              <a:rPr sz="1500">
                <a:solidFill>
                  <a:srgbClr val="1A1A2E"/>
                </a:solidFill>
                <a:latin typeface="Calibri"/>
              </a:rPr>
              <a:t>• 审核合格供应商：质量不良率
  平均降低23%（波士顿咨询数据）</a:t>
            </a:r>
          </a:p>
          <a:p>
            <a:pPr>
              <a:spcBef>
                <a:spcPts val="400"/>
              </a:spcBef>
            </a:pPr>
            <a:r>
              <a:rPr sz="1500">
                <a:solidFill>
                  <a:srgbClr val="1A1A2E"/>
                </a:solidFill>
                <a:latin typeface="Calibri"/>
              </a:rPr>
              <a:t>• ESG评级A的企业：供应链融资
  利率优惠平均30–80bps</a:t>
            </a:r>
          </a:p>
          <a:p>
            <a:pPr>
              <a:spcBef>
                <a:spcPts val="400"/>
              </a:spcBef>
            </a:pPr>
            <a:r>
              <a:rPr sz="1500">
                <a:solidFill>
                  <a:srgbClr val="1A1A2E"/>
                </a:solidFill>
                <a:latin typeface="Calibri"/>
              </a:rPr>
              <a:t>• 通过SA8000认证工厂：
  员工离职率降低15–30%</a:t>
            </a:r>
          </a:p>
          <a:p>
            <a:pPr>
              <a:spcBef>
                <a:spcPts val="400"/>
              </a:spcBef>
            </a:pPr>
            <a:r>
              <a:rPr sz="1500">
                <a:solidFill>
                  <a:srgbClr val="1A1A2E"/>
                </a:solidFill>
                <a:latin typeface="Calibri"/>
              </a:rPr>
              <a:t>• 持有C-TPAT认证的进口商：
  通关查验率降低约50%</a:t>
            </a:r>
          </a:p>
        </p:txBody>
      </p:sp>
      <p:sp>
        <p:nvSpPr>
          <p:cNvPr id="10" name="Rectangle 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我们当前的风险暴露</a:t>
            </a:r>
          </a:p>
        </p:txBody>
      </p:sp>
      <p:sp>
        <p:nvSpPr>
          <p:cNvPr id="4" name="Rectangle 3"/>
          <p:cNvSpPr/>
          <p:nvPr/>
        </p:nvSpPr>
        <p:spPr>
          <a:xfrm>
            <a:off x="457200" y="1188720"/>
            <a:ext cx="11247120" cy="1371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34440"/>
            <a:ext cx="10972800" cy="1280160"/>
          </a:xfrm>
          <a:prstGeom prst="rect">
            <a:avLst/>
          </a:prstGeom>
          <a:noFill/>
        </p:spPr>
        <p:txBody>
          <a:bodyPr wrap="square">
            <a:spAutoFit/>
          </a:bodyPr>
          <a:lstStyle/>
          <a:p>
            <a:pPr algn="ctr"/>
            <a:r>
              <a:rPr sz="2000" b="1">
                <a:solidFill>
                  <a:srgbClr val="FFFFFF"/>
                </a:solidFill>
                <a:latin typeface="Calibri"/>
              </a:rPr>
              <a:t>以下合规空白需要优先关注</a:t>
            </a:r>
          </a:p>
        </p:txBody>
      </p:sp>
      <p:sp>
        <p:nvSpPr>
          <p:cNvPr id="6" name="TextBox 5"/>
          <p:cNvSpPr txBox="1"/>
          <p:nvPr/>
        </p:nvSpPr>
        <p:spPr>
          <a:xfrm>
            <a:off x="457200" y="2743200"/>
            <a:ext cx="11247120" cy="3474720"/>
          </a:xfrm>
          <a:prstGeom prst="rect">
            <a:avLst/>
          </a:prstGeom>
          <a:noFill/>
        </p:spPr>
        <p:txBody>
          <a:bodyPr wrap="square">
            <a:spAutoFit/>
          </a:bodyPr>
          <a:lstStyle/>
          <a:p>
            <a:pPr>
              <a:spcBef>
                <a:spcPts val="400"/>
              </a:spcBef>
            </a:pPr>
            <a:r>
              <a:rPr sz="1600">
                <a:solidFill>
                  <a:srgbClr val="1A1A2E"/>
                </a:solidFill>
                <a:latin typeface="Calibri"/>
              </a:rPr>
              <a:t>• 🔴  [填写：最高风险项目，例如 缺乏供应商行为准则（SCoC）签署机制]</a:t>
            </a:r>
          </a:p>
          <a:p>
            <a:pPr>
              <a:spcBef>
                <a:spcPts val="400"/>
              </a:spcBef>
            </a:pPr>
            <a:r>
              <a:rPr sz="1600">
                <a:solidFill>
                  <a:srgbClr val="1A1A2E"/>
                </a:solidFill>
                <a:latin typeface="Calibri"/>
              </a:rPr>
              <a:t>• 🔴  [填写：高风险项目，例如 无供应商环境数据收集能力——无法回应客户CBAM数据请求]</a:t>
            </a:r>
          </a:p>
          <a:p>
            <a:pPr>
              <a:spcBef>
                <a:spcPts val="400"/>
              </a:spcBef>
            </a:pPr>
            <a:r>
              <a:rPr sz="1600">
                <a:solidFill>
                  <a:srgbClr val="1A1A2E"/>
                </a:solidFill>
                <a:latin typeface="Calibri"/>
              </a:rPr>
              <a:t>• 🟡  [填写：中等风险，例如 部分供应商未完成SMETA审核，面临客户审核压力]</a:t>
            </a:r>
          </a:p>
          <a:p>
            <a:pPr>
              <a:spcBef>
                <a:spcPts val="400"/>
              </a:spcBef>
            </a:pPr>
            <a:r>
              <a:rPr sz="1600">
                <a:solidFill>
                  <a:srgbClr val="1A1A2E"/>
                </a:solidFill>
                <a:latin typeface="Calibri"/>
              </a:rPr>
              <a:t>• 🟢  [填写：已完成项，例如 已建立供应商名单管理系统]</a:t>
            </a:r>
          </a:p>
        </p:txBody>
      </p:sp>
      <p:sp>
        <p:nvSpPr>
          <p:cNvPr id="7" name="Rectangle 6"/>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7F9E"/>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058400" cy="1371600"/>
          </a:xfrm>
          <a:prstGeom prst="rect">
            <a:avLst/>
          </a:prstGeom>
          <a:noFill/>
        </p:spPr>
        <p:txBody>
          <a:bodyPr wrap="square">
            <a:spAutoFit/>
          </a:bodyPr>
          <a:lstStyle/>
          <a:p>
            <a:pPr algn="ctr"/>
            <a:r>
              <a:rPr sz="4000" b="1">
                <a:solidFill>
                  <a:srgbClr val="FFFFFF"/>
                </a:solidFill>
                <a:latin typeface="Calibri"/>
              </a:rPr>
              <a:t>第五部分：我们的方案</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提议的供应链尽职调查项目框架</a:t>
            </a:r>
          </a:p>
        </p:txBody>
      </p:sp>
      <p:sp>
        <p:nvSpPr>
          <p:cNvPr id="4" name="TextBox 3"/>
          <p:cNvSpPr txBox="1"/>
          <p:nvPr/>
        </p:nvSpPr>
        <p:spPr>
          <a:xfrm>
            <a:off x="457200" y="1143000"/>
            <a:ext cx="11247120" cy="5120640"/>
          </a:xfrm>
          <a:prstGeom prst="rect">
            <a:avLst/>
          </a:prstGeom>
          <a:noFill/>
        </p:spPr>
        <p:txBody>
          <a:bodyPr wrap="square">
            <a:spAutoFit/>
          </a:bodyPr>
          <a:lstStyle/>
          <a:p>
            <a:pPr>
              <a:spcBef>
                <a:spcPts val="400"/>
              </a:spcBef>
            </a:pPr>
            <a:r>
              <a:rPr sz="1600">
                <a:solidFill>
                  <a:srgbClr val="1A1A2E"/>
                </a:solidFill>
                <a:latin typeface="Calibri"/>
              </a:rPr>
              <a:t>• 🎯  目标：建立覆盖一级供应商的系统性尽职调查能力，满足现有和预期的客户合规要求</a:t>
            </a:r>
          </a:p>
          <a:p>
            <a:pPr>
              <a:spcBef>
                <a:spcPts val="400"/>
              </a:spcBef>
            </a:pPr>
            <a:r>
              <a:rPr sz="1600">
                <a:solidFill>
                  <a:srgbClr val="1A1A2E"/>
                </a:solidFill>
                <a:latin typeface="Calibri"/>
              </a:rPr>
              <a:t>• </a:t>
            </a:r>
          </a:p>
          <a:p>
            <a:pPr>
              <a:spcBef>
                <a:spcPts val="400"/>
              </a:spcBef>
            </a:pPr>
            <a:r>
              <a:rPr sz="1600">
                <a:solidFill>
                  <a:srgbClr val="1A1A2E"/>
                </a:solidFill>
                <a:latin typeface="Calibri"/>
              </a:rPr>
              <a:t>• 📐  六大合规支柱（优先级排序）</a:t>
            </a:r>
          </a:p>
          <a:p>
            <a:pPr>
              <a:spcBef>
                <a:spcPts val="400"/>
              </a:spcBef>
            </a:pPr>
            <a:r>
              <a:rPr sz="1600">
                <a:solidFill>
                  <a:srgbClr val="1A1A2E"/>
                </a:solidFill>
                <a:latin typeface="Calibri"/>
              </a:rPr>
              <a:t>•      [1] 劳工权利与社会责任  [2] 环境合规  [3] 商业道德</a:t>
            </a:r>
          </a:p>
          <a:p>
            <a:pPr>
              <a:spcBef>
                <a:spcPts val="400"/>
              </a:spcBef>
            </a:pPr>
            <a:r>
              <a:rPr sz="1600">
                <a:solidFill>
                  <a:srgbClr val="1A1A2E"/>
                </a:solidFill>
                <a:latin typeface="Calibri"/>
              </a:rPr>
              <a:t>•      [4] 供应链安全           [5] 知识产权   [6] 信息安全</a:t>
            </a:r>
          </a:p>
          <a:p>
            <a:pPr>
              <a:spcBef>
                <a:spcPts val="400"/>
              </a:spcBef>
            </a:pPr>
            <a:r>
              <a:rPr sz="1600">
                <a:solidFill>
                  <a:srgbClr val="1A1A2E"/>
                </a:solidFill>
                <a:latin typeface="Calibri"/>
              </a:rPr>
              <a:t>• </a:t>
            </a:r>
          </a:p>
          <a:p>
            <a:pPr>
              <a:spcBef>
                <a:spcPts val="400"/>
              </a:spcBef>
            </a:pPr>
            <a:r>
              <a:rPr sz="1600">
                <a:solidFill>
                  <a:srgbClr val="1A1A2E"/>
                </a:solidFill>
                <a:latin typeface="Calibri"/>
              </a:rPr>
              <a:t>• 🔧  核心机制</a:t>
            </a:r>
          </a:p>
          <a:p>
            <a:pPr>
              <a:spcBef>
                <a:spcPts val="400"/>
              </a:spcBef>
            </a:pPr>
            <a:r>
              <a:rPr sz="1600">
                <a:solidFill>
                  <a:srgbClr val="1A1A2E"/>
                </a:solidFill>
                <a:latin typeface="Calibri"/>
              </a:rPr>
              <a:t>•      • 供应商行为准则（SCoC）——所有供应商签署并纳入合同</a:t>
            </a:r>
          </a:p>
          <a:p>
            <a:pPr>
              <a:spcBef>
                <a:spcPts val="400"/>
              </a:spcBef>
            </a:pPr>
            <a:r>
              <a:rPr sz="1600">
                <a:solidFill>
                  <a:srgbClr val="1A1A2E"/>
                </a:solidFill>
                <a:latin typeface="Calibri"/>
              </a:rPr>
              <a:t>•      • 年度自评问卷（SAQ）——覆盖全部一级供应商</a:t>
            </a:r>
          </a:p>
          <a:p>
            <a:pPr>
              <a:spcBef>
                <a:spcPts val="400"/>
              </a:spcBef>
            </a:pPr>
            <a:r>
              <a:rPr sz="1600">
                <a:solidFill>
                  <a:srgbClr val="1A1A2E"/>
                </a:solidFill>
                <a:latin typeface="Calibri"/>
              </a:rPr>
              <a:t>•      • 风险分级——高风险供应商接受现场第三方审核</a:t>
            </a:r>
          </a:p>
          <a:p>
            <a:pPr>
              <a:spcBef>
                <a:spcPts val="400"/>
              </a:spcBef>
            </a:pPr>
            <a:r>
              <a:rPr sz="1600">
                <a:solidFill>
                  <a:srgbClr val="1A1A2E"/>
                </a:solidFill>
                <a:latin typeface="Calibri"/>
              </a:rPr>
              <a:t>•      • 纠正行动计划（CAP）——发现问题闭环跟进</a:t>
            </a:r>
          </a:p>
          <a:p>
            <a:pPr>
              <a:spcBef>
                <a:spcPts val="400"/>
              </a:spcBef>
            </a:pPr>
            <a:r>
              <a:rPr sz="1600">
                <a:solidFill>
                  <a:srgbClr val="1A1A2E"/>
                </a:solidFill>
                <a:latin typeface="Calibri"/>
              </a:rPr>
              <a:t>•      • 持续改进——高绩效供应商提供能力建设支持</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058400" cy="1371600"/>
          </a:xfrm>
          <a:prstGeom prst="rect">
            <a:avLst/>
          </a:prstGeom>
          <a:noFill/>
        </p:spPr>
        <p:txBody>
          <a:bodyPr wrap="square">
            <a:spAutoFit/>
          </a:bodyPr>
          <a:lstStyle/>
          <a:p>
            <a:pPr algn="ctr"/>
            <a:r>
              <a:rPr sz="4000" b="1">
                <a:solidFill>
                  <a:srgbClr val="FFFFFF"/>
                </a:solidFill>
                <a:latin typeface="Calibri"/>
              </a:rPr>
              <a:t>第六部分：投资与回报</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三年投资概算（[公司名称]定制化估算）</a:t>
            </a:r>
          </a:p>
        </p:txBody>
      </p:sp>
      <p:sp>
        <p:nvSpPr>
          <p:cNvPr id="4" name="Rectangle 3"/>
          <p:cNvSpPr/>
          <p:nvPr/>
        </p:nvSpPr>
        <p:spPr>
          <a:xfrm>
            <a:off x="457200" y="1143000"/>
            <a:ext cx="2766060"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8" y="1188720"/>
            <a:ext cx="2720340" cy="347472"/>
          </a:xfrm>
          <a:prstGeom prst="rect">
            <a:avLst/>
          </a:prstGeom>
          <a:noFill/>
        </p:spPr>
        <p:txBody>
          <a:bodyPr wrap="square">
            <a:spAutoFit/>
          </a:bodyPr>
          <a:lstStyle/>
          <a:p>
            <a:pPr algn="l"/>
            <a:r>
              <a:rPr sz="1300" b="1">
                <a:solidFill>
                  <a:srgbClr val="FFFFFF"/>
                </a:solidFill>
                <a:latin typeface="Calibri"/>
              </a:rPr>
              <a:t>成本项目</a:t>
            </a:r>
          </a:p>
        </p:txBody>
      </p:sp>
      <p:sp>
        <p:nvSpPr>
          <p:cNvPr id="6" name="Rectangle 5"/>
          <p:cNvSpPr/>
          <p:nvPr/>
        </p:nvSpPr>
        <p:spPr>
          <a:xfrm>
            <a:off x="3268980" y="1143000"/>
            <a:ext cx="2766060"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87268" y="1188720"/>
            <a:ext cx="2720340" cy="347472"/>
          </a:xfrm>
          <a:prstGeom prst="rect">
            <a:avLst/>
          </a:prstGeom>
          <a:noFill/>
        </p:spPr>
        <p:txBody>
          <a:bodyPr wrap="square">
            <a:spAutoFit/>
          </a:bodyPr>
          <a:lstStyle/>
          <a:p>
            <a:pPr algn="l"/>
            <a:r>
              <a:rPr sz="1300" b="1">
                <a:solidFill>
                  <a:srgbClr val="FFFFFF"/>
                </a:solidFill>
                <a:latin typeface="Calibri"/>
              </a:rPr>
              <a:t>Year 1（建设期）</a:t>
            </a:r>
          </a:p>
        </p:txBody>
      </p:sp>
      <p:sp>
        <p:nvSpPr>
          <p:cNvPr id="8" name="Rectangle 7"/>
          <p:cNvSpPr/>
          <p:nvPr/>
        </p:nvSpPr>
        <p:spPr>
          <a:xfrm>
            <a:off x="6080760" y="1143000"/>
            <a:ext cx="2766060"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9048" y="1188720"/>
            <a:ext cx="2720340" cy="347472"/>
          </a:xfrm>
          <a:prstGeom prst="rect">
            <a:avLst/>
          </a:prstGeom>
          <a:noFill/>
        </p:spPr>
        <p:txBody>
          <a:bodyPr wrap="square">
            <a:spAutoFit/>
          </a:bodyPr>
          <a:lstStyle/>
          <a:p>
            <a:pPr algn="l"/>
            <a:r>
              <a:rPr sz="1300" b="1">
                <a:solidFill>
                  <a:srgbClr val="FFFFFF"/>
                </a:solidFill>
                <a:latin typeface="Calibri"/>
              </a:rPr>
              <a:t>Year 2–3（运营期/年）</a:t>
            </a:r>
          </a:p>
        </p:txBody>
      </p:sp>
      <p:sp>
        <p:nvSpPr>
          <p:cNvPr id="10" name="Rectangle 9"/>
          <p:cNvSpPr/>
          <p:nvPr/>
        </p:nvSpPr>
        <p:spPr>
          <a:xfrm>
            <a:off x="8892540" y="1143000"/>
            <a:ext cx="2766060"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10828" y="1188720"/>
            <a:ext cx="2720340" cy="347472"/>
          </a:xfrm>
          <a:prstGeom prst="rect">
            <a:avLst/>
          </a:prstGeom>
          <a:noFill/>
        </p:spPr>
        <p:txBody>
          <a:bodyPr wrap="square">
            <a:spAutoFit/>
          </a:bodyPr>
          <a:lstStyle/>
          <a:p>
            <a:pPr algn="l"/>
            <a:r>
              <a:rPr sz="1300" b="1">
                <a:solidFill>
                  <a:srgbClr val="FFFFFF"/>
                </a:solidFill>
                <a:latin typeface="Calibri"/>
              </a:rPr>
              <a:t>备注</a:t>
            </a:r>
          </a:p>
        </p:txBody>
      </p:sp>
      <p:sp>
        <p:nvSpPr>
          <p:cNvPr id="12" name="Rectangle 11"/>
          <p:cNvSpPr/>
          <p:nvPr/>
        </p:nvSpPr>
        <p:spPr>
          <a:xfrm>
            <a:off x="457200" y="1581912"/>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1618488"/>
            <a:ext cx="2720340" cy="365759"/>
          </a:xfrm>
          <a:prstGeom prst="rect">
            <a:avLst/>
          </a:prstGeom>
          <a:noFill/>
        </p:spPr>
        <p:txBody>
          <a:bodyPr wrap="square">
            <a:spAutoFit/>
          </a:bodyPr>
          <a:lstStyle/>
          <a:p>
            <a:pPr algn="l"/>
            <a:r>
              <a:rPr sz="1200" b="0">
                <a:solidFill>
                  <a:srgbClr val="1A1A2E"/>
                </a:solidFill>
                <a:latin typeface="Calibri"/>
              </a:rPr>
              <a:t>人员（FTE）</a:t>
            </a:r>
          </a:p>
        </p:txBody>
      </p:sp>
      <p:sp>
        <p:nvSpPr>
          <p:cNvPr id="14" name="Rectangle 13"/>
          <p:cNvSpPr/>
          <p:nvPr/>
        </p:nvSpPr>
        <p:spPr>
          <a:xfrm>
            <a:off x="3268980" y="1581912"/>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4700" y="1618488"/>
            <a:ext cx="2720340" cy="365759"/>
          </a:xfrm>
          <a:prstGeom prst="rect">
            <a:avLst/>
          </a:prstGeom>
          <a:noFill/>
        </p:spPr>
        <p:txBody>
          <a:bodyPr wrap="square">
            <a:spAutoFit/>
          </a:bodyPr>
          <a:lstStyle/>
          <a:p>
            <a:pPr algn="l"/>
            <a:r>
              <a:rPr sz="1200" b="0">
                <a:solidFill>
                  <a:srgbClr val="1A1A2E"/>
                </a:solidFill>
                <a:latin typeface="Calibri"/>
              </a:rPr>
              <a:t>[X]人，约¥[XX]万/年</a:t>
            </a:r>
          </a:p>
        </p:txBody>
      </p:sp>
      <p:sp>
        <p:nvSpPr>
          <p:cNvPr id="16" name="Rectangle 15"/>
          <p:cNvSpPr/>
          <p:nvPr/>
        </p:nvSpPr>
        <p:spPr>
          <a:xfrm>
            <a:off x="6080760" y="1581912"/>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1618488"/>
            <a:ext cx="2720340" cy="365759"/>
          </a:xfrm>
          <a:prstGeom prst="rect">
            <a:avLst/>
          </a:prstGeom>
          <a:noFill/>
        </p:spPr>
        <p:txBody>
          <a:bodyPr wrap="square">
            <a:spAutoFit/>
          </a:bodyPr>
          <a:lstStyle/>
          <a:p>
            <a:pPr algn="l"/>
            <a:r>
              <a:rPr sz="1200" b="0">
                <a:solidFill>
                  <a:srgbClr val="1A1A2E"/>
                </a:solidFill>
                <a:latin typeface="Calibri"/>
              </a:rPr>
              <a:t>同左或略降</a:t>
            </a:r>
          </a:p>
        </p:txBody>
      </p:sp>
      <p:sp>
        <p:nvSpPr>
          <p:cNvPr id="18" name="Rectangle 17"/>
          <p:cNvSpPr/>
          <p:nvPr/>
        </p:nvSpPr>
        <p:spPr>
          <a:xfrm>
            <a:off x="8892540" y="1581912"/>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38260" y="1618488"/>
            <a:ext cx="2720340" cy="365759"/>
          </a:xfrm>
          <a:prstGeom prst="rect">
            <a:avLst/>
          </a:prstGeom>
          <a:noFill/>
        </p:spPr>
        <p:txBody>
          <a:bodyPr wrap="square">
            <a:spAutoFit/>
          </a:bodyPr>
          <a:lstStyle/>
          <a:p>
            <a:pPr algn="l"/>
            <a:r>
              <a:rPr sz="1200" b="0">
                <a:solidFill>
                  <a:srgbClr val="1A1A2E"/>
                </a:solidFill>
                <a:latin typeface="Calibri"/>
              </a:rPr>
              <a:t>按供应商规模调整</a:t>
            </a:r>
          </a:p>
        </p:txBody>
      </p:sp>
      <p:sp>
        <p:nvSpPr>
          <p:cNvPr id="20" name="Rectangle 19"/>
          <p:cNvSpPr/>
          <p:nvPr/>
        </p:nvSpPr>
        <p:spPr>
          <a:xfrm>
            <a:off x="457200" y="2020824"/>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2057400"/>
            <a:ext cx="2720340" cy="365759"/>
          </a:xfrm>
          <a:prstGeom prst="rect">
            <a:avLst/>
          </a:prstGeom>
          <a:noFill/>
        </p:spPr>
        <p:txBody>
          <a:bodyPr wrap="square">
            <a:spAutoFit/>
          </a:bodyPr>
          <a:lstStyle/>
          <a:p>
            <a:pPr algn="l"/>
            <a:r>
              <a:rPr sz="1200" b="0">
                <a:solidFill>
                  <a:srgbClr val="1A1A2E"/>
                </a:solidFill>
                <a:latin typeface="Calibri"/>
              </a:rPr>
              <a:t>第三方审核费用</a:t>
            </a:r>
          </a:p>
        </p:txBody>
      </p:sp>
      <p:sp>
        <p:nvSpPr>
          <p:cNvPr id="22" name="Rectangle 21"/>
          <p:cNvSpPr/>
          <p:nvPr/>
        </p:nvSpPr>
        <p:spPr>
          <a:xfrm>
            <a:off x="3268980" y="2020824"/>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14700" y="2057400"/>
            <a:ext cx="2720340" cy="365759"/>
          </a:xfrm>
          <a:prstGeom prst="rect">
            <a:avLst/>
          </a:prstGeom>
          <a:noFill/>
        </p:spPr>
        <p:txBody>
          <a:bodyPr wrap="square">
            <a:spAutoFit/>
          </a:bodyPr>
          <a:lstStyle/>
          <a:p>
            <a:pPr algn="l"/>
            <a:r>
              <a:rPr sz="1200" b="0">
                <a:solidFill>
                  <a:srgbClr val="1A1A2E"/>
                </a:solidFill>
                <a:latin typeface="Calibri"/>
              </a:rPr>
              <a:t>¥[XX]万（[N]次审核）</a:t>
            </a:r>
          </a:p>
        </p:txBody>
      </p:sp>
      <p:sp>
        <p:nvSpPr>
          <p:cNvPr id="24" name="Rectangle 23"/>
          <p:cNvSpPr/>
          <p:nvPr/>
        </p:nvSpPr>
        <p:spPr>
          <a:xfrm>
            <a:off x="6080760" y="2020824"/>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26480" y="2057400"/>
            <a:ext cx="2720340" cy="365759"/>
          </a:xfrm>
          <a:prstGeom prst="rect">
            <a:avLst/>
          </a:prstGeom>
          <a:noFill/>
        </p:spPr>
        <p:txBody>
          <a:bodyPr wrap="square">
            <a:spAutoFit/>
          </a:bodyPr>
          <a:lstStyle/>
          <a:p>
            <a:pPr algn="l"/>
            <a:r>
              <a:rPr sz="1200" b="0">
                <a:solidFill>
                  <a:srgbClr val="1A1A2E"/>
                </a:solidFill>
                <a:latin typeface="Calibri"/>
              </a:rPr>
              <a:t>¥[XX]万</a:t>
            </a:r>
          </a:p>
        </p:txBody>
      </p:sp>
      <p:sp>
        <p:nvSpPr>
          <p:cNvPr id="26" name="Rectangle 25"/>
          <p:cNvSpPr/>
          <p:nvPr/>
        </p:nvSpPr>
        <p:spPr>
          <a:xfrm>
            <a:off x="8892540" y="2020824"/>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38260" y="2057400"/>
            <a:ext cx="2720340" cy="365759"/>
          </a:xfrm>
          <a:prstGeom prst="rect">
            <a:avLst/>
          </a:prstGeom>
          <a:noFill/>
        </p:spPr>
        <p:txBody>
          <a:bodyPr wrap="square">
            <a:spAutoFit/>
          </a:bodyPr>
          <a:lstStyle/>
          <a:p>
            <a:pPr algn="l"/>
            <a:r>
              <a:rPr sz="1200" b="0">
                <a:solidFill>
                  <a:srgbClr val="1A1A2E"/>
                </a:solidFill>
                <a:latin typeface="Calibri"/>
              </a:rPr>
              <a:t>按高风险供应商数量</a:t>
            </a:r>
          </a:p>
        </p:txBody>
      </p:sp>
      <p:sp>
        <p:nvSpPr>
          <p:cNvPr id="28" name="Rectangle 27"/>
          <p:cNvSpPr/>
          <p:nvPr/>
        </p:nvSpPr>
        <p:spPr>
          <a:xfrm>
            <a:off x="457200" y="2459736"/>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2496312"/>
            <a:ext cx="2720340" cy="365759"/>
          </a:xfrm>
          <a:prstGeom prst="rect">
            <a:avLst/>
          </a:prstGeom>
          <a:noFill/>
        </p:spPr>
        <p:txBody>
          <a:bodyPr wrap="square">
            <a:spAutoFit/>
          </a:bodyPr>
          <a:lstStyle/>
          <a:p>
            <a:pPr algn="l"/>
            <a:r>
              <a:rPr sz="1200" b="0">
                <a:solidFill>
                  <a:srgbClr val="1A1A2E"/>
                </a:solidFill>
                <a:latin typeface="Calibri"/>
              </a:rPr>
              <a:t>平台订阅（Sedex等）</a:t>
            </a:r>
          </a:p>
        </p:txBody>
      </p:sp>
      <p:sp>
        <p:nvSpPr>
          <p:cNvPr id="30" name="Rectangle 29"/>
          <p:cNvSpPr/>
          <p:nvPr/>
        </p:nvSpPr>
        <p:spPr>
          <a:xfrm>
            <a:off x="3268980" y="2459736"/>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14700" y="2496312"/>
            <a:ext cx="2720340" cy="365759"/>
          </a:xfrm>
          <a:prstGeom prst="rect">
            <a:avLst/>
          </a:prstGeom>
          <a:noFill/>
        </p:spPr>
        <p:txBody>
          <a:bodyPr wrap="square">
            <a:spAutoFit/>
          </a:bodyPr>
          <a:lstStyle/>
          <a:p>
            <a:pPr algn="l"/>
            <a:r>
              <a:rPr sz="1200" b="0">
                <a:solidFill>
                  <a:srgbClr val="1A1A2E"/>
                </a:solidFill>
                <a:latin typeface="Calibri"/>
              </a:rPr>
              <a:t>¥[XX]万</a:t>
            </a:r>
          </a:p>
        </p:txBody>
      </p:sp>
      <p:sp>
        <p:nvSpPr>
          <p:cNvPr id="32" name="Rectangle 31"/>
          <p:cNvSpPr/>
          <p:nvPr/>
        </p:nvSpPr>
        <p:spPr>
          <a:xfrm>
            <a:off x="6080760" y="2459736"/>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6480" y="2496312"/>
            <a:ext cx="2720340" cy="365759"/>
          </a:xfrm>
          <a:prstGeom prst="rect">
            <a:avLst/>
          </a:prstGeom>
          <a:noFill/>
        </p:spPr>
        <p:txBody>
          <a:bodyPr wrap="square">
            <a:spAutoFit/>
          </a:bodyPr>
          <a:lstStyle/>
          <a:p>
            <a:pPr algn="l"/>
            <a:r>
              <a:rPr sz="1200" b="0">
                <a:solidFill>
                  <a:srgbClr val="1A1A2E"/>
                </a:solidFill>
                <a:latin typeface="Calibri"/>
              </a:rPr>
              <a:t>¥[XX]万/年</a:t>
            </a:r>
          </a:p>
        </p:txBody>
      </p:sp>
      <p:sp>
        <p:nvSpPr>
          <p:cNvPr id="34" name="Rectangle 33"/>
          <p:cNvSpPr/>
          <p:nvPr/>
        </p:nvSpPr>
        <p:spPr>
          <a:xfrm>
            <a:off x="8892540" y="2459736"/>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938260" y="2496312"/>
            <a:ext cx="2720340" cy="365759"/>
          </a:xfrm>
          <a:prstGeom prst="rect">
            <a:avLst/>
          </a:prstGeom>
          <a:noFill/>
        </p:spPr>
        <p:txBody>
          <a:bodyPr wrap="square">
            <a:spAutoFit/>
          </a:bodyPr>
          <a:lstStyle/>
          <a:p>
            <a:pPr algn="l"/>
            <a:r>
              <a:rPr sz="1200" b="0">
                <a:solidFill>
                  <a:srgbClr val="1A1A2E"/>
                </a:solidFill>
                <a:latin typeface="Calibri"/>
              </a:rPr>
              <a:t>含供应商入驻费</a:t>
            </a:r>
          </a:p>
        </p:txBody>
      </p:sp>
      <p:sp>
        <p:nvSpPr>
          <p:cNvPr id="36" name="Rectangle 35"/>
          <p:cNvSpPr/>
          <p:nvPr/>
        </p:nvSpPr>
        <p:spPr>
          <a:xfrm>
            <a:off x="457200" y="2898648"/>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2935224"/>
            <a:ext cx="2720340" cy="365759"/>
          </a:xfrm>
          <a:prstGeom prst="rect">
            <a:avLst/>
          </a:prstGeom>
          <a:noFill/>
        </p:spPr>
        <p:txBody>
          <a:bodyPr wrap="square">
            <a:spAutoFit/>
          </a:bodyPr>
          <a:lstStyle/>
          <a:p>
            <a:pPr algn="l"/>
            <a:r>
              <a:rPr sz="1200" b="0">
                <a:solidFill>
                  <a:srgbClr val="1A1A2E"/>
                </a:solidFill>
                <a:latin typeface="Calibri"/>
              </a:rPr>
              <a:t>政策文件开发</a:t>
            </a:r>
          </a:p>
        </p:txBody>
      </p:sp>
      <p:sp>
        <p:nvSpPr>
          <p:cNvPr id="38" name="Rectangle 37"/>
          <p:cNvSpPr/>
          <p:nvPr/>
        </p:nvSpPr>
        <p:spPr>
          <a:xfrm>
            <a:off x="3268980" y="2898648"/>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314700" y="2935224"/>
            <a:ext cx="2720340" cy="365759"/>
          </a:xfrm>
          <a:prstGeom prst="rect">
            <a:avLst/>
          </a:prstGeom>
          <a:noFill/>
        </p:spPr>
        <p:txBody>
          <a:bodyPr wrap="square">
            <a:spAutoFit/>
          </a:bodyPr>
          <a:lstStyle/>
          <a:p>
            <a:pPr algn="l"/>
            <a:r>
              <a:rPr sz="1200" b="0">
                <a:solidFill>
                  <a:srgbClr val="1A1A2E"/>
                </a:solidFill>
                <a:latin typeface="Calibri"/>
              </a:rPr>
              <a:t>¥[XX]万（一次性）</a:t>
            </a:r>
          </a:p>
        </p:txBody>
      </p:sp>
      <p:sp>
        <p:nvSpPr>
          <p:cNvPr id="40" name="Rectangle 39"/>
          <p:cNvSpPr/>
          <p:nvPr/>
        </p:nvSpPr>
        <p:spPr>
          <a:xfrm>
            <a:off x="6080760" y="2898648"/>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0" y="2935224"/>
            <a:ext cx="2720340" cy="365759"/>
          </a:xfrm>
          <a:prstGeom prst="rect">
            <a:avLst/>
          </a:prstGeom>
          <a:noFill/>
        </p:spPr>
        <p:txBody>
          <a:bodyPr wrap="square">
            <a:spAutoFit/>
          </a:bodyPr>
          <a:lstStyle/>
          <a:p>
            <a:pPr algn="l"/>
            <a:r>
              <a:rPr sz="1200" b="0">
                <a:solidFill>
                  <a:srgbClr val="1A1A2E"/>
                </a:solidFill>
                <a:latin typeface="Calibri"/>
              </a:rPr>
              <a:t>¥[XX]万（更新维护）</a:t>
            </a:r>
          </a:p>
        </p:txBody>
      </p:sp>
      <p:sp>
        <p:nvSpPr>
          <p:cNvPr id="42" name="Rectangle 41"/>
          <p:cNvSpPr/>
          <p:nvPr/>
        </p:nvSpPr>
        <p:spPr>
          <a:xfrm>
            <a:off x="8892540" y="2898648"/>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938260" y="2935224"/>
            <a:ext cx="2720340" cy="365759"/>
          </a:xfrm>
          <a:prstGeom prst="rect">
            <a:avLst/>
          </a:prstGeom>
          <a:noFill/>
        </p:spPr>
        <p:txBody>
          <a:bodyPr wrap="square">
            <a:spAutoFit/>
          </a:bodyPr>
          <a:lstStyle/>
          <a:p>
            <a:pPr algn="l"/>
            <a:r>
              <a:rPr sz="1200" b="0">
                <a:solidFill>
                  <a:srgbClr val="1A1A2E"/>
                </a:solidFill>
                <a:latin typeface="Calibri"/>
              </a:rPr>
              <a:t>可内部完成或委托</a:t>
            </a:r>
          </a:p>
        </p:txBody>
      </p:sp>
      <p:sp>
        <p:nvSpPr>
          <p:cNvPr id="44" name="Rectangle 43"/>
          <p:cNvSpPr/>
          <p:nvPr/>
        </p:nvSpPr>
        <p:spPr>
          <a:xfrm>
            <a:off x="457200" y="3337560"/>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2920" y="3374136"/>
            <a:ext cx="2720340" cy="365759"/>
          </a:xfrm>
          <a:prstGeom prst="rect">
            <a:avLst/>
          </a:prstGeom>
          <a:noFill/>
        </p:spPr>
        <p:txBody>
          <a:bodyPr wrap="square">
            <a:spAutoFit/>
          </a:bodyPr>
          <a:lstStyle/>
          <a:p>
            <a:pPr algn="l"/>
            <a:r>
              <a:rPr sz="1200" b="0">
                <a:solidFill>
                  <a:srgbClr val="1A1A2E"/>
                </a:solidFill>
                <a:latin typeface="Calibri"/>
              </a:rPr>
              <a:t>培训</a:t>
            </a:r>
          </a:p>
        </p:txBody>
      </p:sp>
      <p:sp>
        <p:nvSpPr>
          <p:cNvPr id="46" name="Rectangle 45"/>
          <p:cNvSpPr/>
          <p:nvPr/>
        </p:nvSpPr>
        <p:spPr>
          <a:xfrm>
            <a:off x="3268980" y="3337560"/>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314700" y="3374136"/>
            <a:ext cx="2720340" cy="365759"/>
          </a:xfrm>
          <a:prstGeom prst="rect">
            <a:avLst/>
          </a:prstGeom>
          <a:noFill/>
        </p:spPr>
        <p:txBody>
          <a:bodyPr wrap="square">
            <a:spAutoFit/>
          </a:bodyPr>
          <a:lstStyle/>
          <a:p>
            <a:pPr algn="l"/>
            <a:r>
              <a:rPr sz="1200" b="0">
                <a:solidFill>
                  <a:srgbClr val="1A1A2E"/>
                </a:solidFill>
                <a:latin typeface="Calibri"/>
              </a:rPr>
              <a:t>¥[XX]万</a:t>
            </a:r>
          </a:p>
        </p:txBody>
      </p:sp>
      <p:sp>
        <p:nvSpPr>
          <p:cNvPr id="48" name="Rectangle 47"/>
          <p:cNvSpPr/>
          <p:nvPr/>
        </p:nvSpPr>
        <p:spPr>
          <a:xfrm>
            <a:off x="6080760" y="3337560"/>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26480" y="3374136"/>
            <a:ext cx="2720340" cy="365759"/>
          </a:xfrm>
          <a:prstGeom prst="rect">
            <a:avLst/>
          </a:prstGeom>
          <a:noFill/>
        </p:spPr>
        <p:txBody>
          <a:bodyPr wrap="square">
            <a:spAutoFit/>
          </a:bodyPr>
          <a:lstStyle/>
          <a:p>
            <a:pPr algn="l"/>
            <a:r>
              <a:rPr sz="1200" b="0">
                <a:solidFill>
                  <a:srgbClr val="1A1A2E"/>
                </a:solidFill>
                <a:latin typeface="Calibri"/>
              </a:rPr>
              <a:t>¥[XX]万/年</a:t>
            </a:r>
          </a:p>
        </p:txBody>
      </p:sp>
      <p:sp>
        <p:nvSpPr>
          <p:cNvPr id="50" name="Rectangle 49"/>
          <p:cNvSpPr/>
          <p:nvPr/>
        </p:nvSpPr>
        <p:spPr>
          <a:xfrm>
            <a:off x="8892540" y="3337560"/>
            <a:ext cx="2766060"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938260" y="3374136"/>
            <a:ext cx="2720340" cy="365759"/>
          </a:xfrm>
          <a:prstGeom prst="rect">
            <a:avLst/>
          </a:prstGeom>
          <a:noFill/>
        </p:spPr>
        <p:txBody>
          <a:bodyPr wrap="square">
            <a:spAutoFit/>
          </a:bodyPr>
          <a:lstStyle/>
          <a:p>
            <a:pPr algn="l"/>
            <a:r>
              <a:rPr sz="1200" b="0">
                <a:solidFill>
                  <a:srgbClr val="1A1A2E"/>
                </a:solidFill>
                <a:latin typeface="Calibri"/>
              </a:rPr>
              <a:t>内外部培训</a:t>
            </a:r>
          </a:p>
        </p:txBody>
      </p:sp>
      <p:sp>
        <p:nvSpPr>
          <p:cNvPr id="52" name="Rectangle 51"/>
          <p:cNvSpPr/>
          <p:nvPr/>
        </p:nvSpPr>
        <p:spPr>
          <a:xfrm>
            <a:off x="457200" y="3776472"/>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3813048"/>
            <a:ext cx="2720340" cy="365759"/>
          </a:xfrm>
          <a:prstGeom prst="rect">
            <a:avLst/>
          </a:prstGeom>
          <a:noFill/>
        </p:spPr>
        <p:txBody>
          <a:bodyPr wrap="square">
            <a:spAutoFit/>
          </a:bodyPr>
          <a:lstStyle/>
          <a:p>
            <a:pPr algn="l"/>
            <a:r>
              <a:rPr sz="1200" b="0">
                <a:solidFill>
                  <a:srgbClr val="1A1A2E"/>
                </a:solidFill>
                <a:latin typeface="Calibri"/>
              </a:rPr>
              <a:t>合计（估算）</a:t>
            </a:r>
          </a:p>
        </p:txBody>
      </p:sp>
      <p:sp>
        <p:nvSpPr>
          <p:cNvPr id="54" name="Rectangle 53"/>
          <p:cNvSpPr/>
          <p:nvPr/>
        </p:nvSpPr>
        <p:spPr>
          <a:xfrm>
            <a:off x="3268980" y="3776472"/>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314700" y="3813048"/>
            <a:ext cx="2720340" cy="365759"/>
          </a:xfrm>
          <a:prstGeom prst="rect">
            <a:avLst/>
          </a:prstGeom>
          <a:noFill/>
        </p:spPr>
        <p:txBody>
          <a:bodyPr wrap="square">
            <a:spAutoFit/>
          </a:bodyPr>
          <a:lstStyle/>
          <a:p>
            <a:pPr algn="l"/>
            <a:r>
              <a:rPr sz="1200" b="0">
                <a:solidFill>
                  <a:srgbClr val="1A1A2E"/>
                </a:solidFill>
                <a:latin typeface="Calibri"/>
              </a:rPr>
              <a:t>¥[XXX]万</a:t>
            </a:r>
          </a:p>
        </p:txBody>
      </p:sp>
      <p:sp>
        <p:nvSpPr>
          <p:cNvPr id="56" name="Rectangle 55"/>
          <p:cNvSpPr/>
          <p:nvPr/>
        </p:nvSpPr>
        <p:spPr>
          <a:xfrm>
            <a:off x="6080760" y="3776472"/>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126480" y="3813048"/>
            <a:ext cx="2720340" cy="365759"/>
          </a:xfrm>
          <a:prstGeom prst="rect">
            <a:avLst/>
          </a:prstGeom>
          <a:noFill/>
        </p:spPr>
        <p:txBody>
          <a:bodyPr wrap="square">
            <a:spAutoFit/>
          </a:bodyPr>
          <a:lstStyle/>
          <a:p>
            <a:pPr algn="l"/>
            <a:r>
              <a:rPr sz="1200" b="0">
                <a:solidFill>
                  <a:srgbClr val="1A1A2E"/>
                </a:solidFill>
                <a:latin typeface="Calibri"/>
              </a:rPr>
              <a:t>¥[XX]万/年</a:t>
            </a:r>
          </a:p>
        </p:txBody>
      </p:sp>
      <p:sp>
        <p:nvSpPr>
          <p:cNvPr id="58" name="Rectangle 57"/>
          <p:cNvSpPr/>
          <p:nvPr/>
        </p:nvSpPr>
        <p:spPr>
          <a:xfrm>
            <a:off x="8892540" y="3776472"/>
            <a:ext cx="2766060"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938260" y="3813048"/>
            <a:ext cx="2720340" cy="365759"/>
          </a:xfrm>
          <a:prstGeom prst="rect">
            <a:avLst/>
          </a:prstGeom>
          <a:noFill/>
        </p:spPr>
        <p:txBody>
          <a:bodyPr wrap="square">
            <a:spAutoFit/>
          </a:bodyPr>
          <a:lstStyle/>
          <a:p>
            <a:pPr algn="l"/>
            <a:endParaRPr/>
          </a:p>
        </p:txBody>
      </p:sp>
      <p:sp>
        <p:nvSpPr>
          <p:cNvPr id="60" name="Rectangle 5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ROI框架：合规投入 vs. 不合规代价</a:t>
            </a:r>
          </a:p>
        </p:txBody>
      </p:sp>
      <p:sp>
        <p:nvSpPr>
          <p:cNvPr id="4" name="Rectangle 3"/>
          <p:cNvSpPr/>
          <p:nvPr/>
        </p:nvSpPr>
        <p:spPr>
          <a:xfrm>
            <a:off x="457200" y="1188720"/>
            <a:ext cx="11247120" cy="13716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34440"/>
            <a:ext cx="10972800" cy="1280160"/>
          </a:xfrm>
          <a:prstGeom prst="rect">
            <a:avLst/>
          </a:prstGeom>
          <a:noFill/>
        </p:spPr>
        <p:txBody>
          <a:bodyPr wrap="square">
            <a:spAutoFit/>
          </a:bodyPr>
          <a:lstStyle/>
          <a:p>
            <a:pPr algn="ctr"/>
            <a:r>
              <a:rPr sz="2000" b="1">
                <a:solidFill>
                  <a:srgbClr val="FFFFFF"/>
                </a:solidFill>
                <a:latin typeface="Calibri"/>
              </a:rPr>
              <a:t>保守估算：DD投入1元，可避免3–6元供应链中断损失（BSR研究）</a:t>
            </a:r>
          </a:p>
        </p:txBody>
      </p:sp>
      <p:sp>
        <p:nvSpPr>
          <p:cNvPr id="6" name="TextBox 5"/>
          <p:cNvSpPr txBox="1"/>
          <p:nvPr/>
        </p:nvSpPr>
        <p:spPr>
          <a:xfrm>
            <a:off x="457200" y="2743200"/>
            <a:ext cx="11247120" cy="3474720"/>
          </a:xfrm>
          <a:prstGeom prst="rect">
            <a:avLst/>
          </a:prstGeom>
          <a:noFill/>
        </p:spPr>
        <p:txBody>
          <a:bodyPr wrap="square">
            <a:spAutoFit/>
          </a:bodyPr>
          <a:lstStyle/>
          <a:p>
            <a:pPr>
              <a:spcBef>
                <a:spcPts val="400"/>
              </a:spcBef>
            </a:pPr>
            <a:r>
              <a:rPr sz="1600">
                <a:solidFill>
                  <a:srgbClr val="1A1A2E"/>
                </a:solidFill>
                <a:latin typeface="Calibri"/>
              </a:rPr>
              <a:t>• 💵  准入价值：满足欧盟/美国客户DD审核要求 = 保住现有订单；无法通过 = 直接失去合同</a:t>
            </a:r>
          </a:p>
          <a:p>
            <a:pPr>
              <a:spcBef>
                <a:spcPts val="400"/>
              </a:spcBef>
            </a:pPr>
            <a:r>
              <a:rPr sz="1600">
                <a:solidFill>
                  <a:srgbClr val="1A1A2E"/>
                </a:solidFill>
                <a:latin typeface="Calibri"/>
              </a:rPr>
              <a:t>• 💵  避免罚款：LkSG违规罚款上限=营业额2%；GDPR=4%；UFLPA货物扣押=100%货值</a:t>
            </a:r>
          </a:p>
          <a:p>
            <a:pPr>
              <a:spcBef>
                <a:spcPts val="400"/>
              </a:spcBef>
            </a:pPr>
            <a:r>
              <a:rPr sz="1600">
                <a:solidFill>
                  <a:srgbClr val="1A1A2E"/>
                </a:solidFill>
                <a:latin typeface="Calibri"/>
              </a:rPr>
              <a:t>• 💵  效率收益：规范管理通常带来工伤率-20%、能耗-10%、质量不良率-15%（行业数据）</a:t>
            </a:r>
          </a:p>
          <a:p>
            <a:pPr>
              <a:spcBef>
                <a:spcPts val="400"/>
              </a:spcBef>
            </a:pPr>
            <a:r>
              <a:rPr sz="1600">
                <a:solidFill>
                  <a:srgbClr val="1A1A2E"/>
                </a:solidFill>
                <a:latin typeface="Calibri"/>
              </a:rPr>
              <a:t>• 💵  融资优惠：ESG评级良好可获供应链融资利率优惠30–80个基点</a:t>
            </a:r>
          </a:p>
        </p:txBody>
      </p:sp>
      <p:sp>
        <p:nvSpPr>
          <p:cNvPr id="7" name="Rectangle 6"/>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7F9E"/>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058400" cy="1371600"/>
          </a:xfrm>
          <a:prstGeom prst="rect">
            <a:avLst/>
          </a:prstGeom>
          <a:noFill/>
        </p:spPr>
        <p:txBody>
          <a:bodyPr wrap="square">
            <a:spAutoFit/>
          </a:bodyPr>
          <a:lstStyle/>
          <a:p>
            <a:pPr algn="ctr"/>
            <a:r>
              <a:rPr sz="4000" b="1">
                <a:solidFill>
                  <a:srgbClr val="FFFFFF"/>
                </a:solidFill>
                <a:latin typeface="Calibri"/>
              </a:rPr>
              <a:t>第七部分：实施路线图</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12个月实施路线图</a:t>
            </a:r>
          </a:p>
        </p:txBody>
      </p:sp>
      <p:sp>
        <p:nvSpPr>
          <p:cNvPr id="4" name="Rectangle 3"/>
          <p:cNvSpPr/>
          <p:nvPr/>
        </p:nvSpPr>
        <p:spPr>
          <a:xfrm>
            <a:off x="457200"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8" y="1188720"/>
            <a:ext cx="2157984" cy="347472"/>
          </a:xfrm>
          <a:prstGeom prst="rect">
            <a:avLst/>
          </a:prstGeom>
          <a:noFill/>
        </p:spPr>
        <p:txBody>
          <a:bodyPr wrap="square">
            <a:spAutoFit/>
          </a:bodyPr>
          <a:lstStyle/>
          <a:p>
            <a:pPr algn="l"/>
            <a:r>
              <a:rPr sz="1300" b="1">
                <a:solidFill>
                  <a:srgbClr val="FFFFFF"/>
                </a:solidFill>
                <a:latin typeface="Calibri"/>
              </a:rPr>
              <a:t>阶段</a:t>
            </a:r>
          </a:p>
        </p:txBody>
      </p:sp>
      <p:sp>
        <p:nvSpPr>
          <p:cNvPr id="6" name="Rectangle 5"/>
          <p:cNvSpPr/>
          <p:nvPr/>
        </p:nvSpPr>
        <p:spPr>
          <a:xfrm>
            <a:off x="2706624"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24912" y="1188720"/>
            <a:ext cx="2157984" cy="347472"/>
          </a:xfrm>
          <a:prstGeom prst="rect">
            <a:avLst/>
          </a:prstGeom>
          <a:noFill/>
        </p:spPr>
        <p:txBody>
          <a:bodyPr wrap="square">
            <a:spAutoFit/>
          </a:bodyPr>
          <a:lstStyle/>
          <a:p>
            <a:pPr algn="l"/>
            <a:r>
              <a:rPr sz="1300" b="1">
                <a:solidFill>
                  <a:srgbClr val="FFFFFF"/>
                </a:solidFill>
                <a:latin typeface="Calibri"/>
              </a:rPr>
              <a:t>时间</a:t>
            </a:r>
          </a:p>
        </p:txBody>
      </p:sp>
      <p:sp>
        <p:nvSpPr>
          <p:cNvPr id="8" name="Rectangle 7"/>
          <p:cNvSpPr/>
          <p:nvPr/>
        </p:nvSpPr>
        <p:spPr>
          <a:xfrm>
            <a:off x="4956048"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74336" y="1188720"/>
            <a:ext cx="2157984" cy="347472"/>
          </a:xfrm>
          <a:prstGeom prst="rect">
            <a:avLst/>
          </a:prstGeom>
          <a:noFill/>
        </p:spPr>
        <p:txBody>
          <a:bodyPr wrap="square">
            <a:spAutoFit/>
          </a:bodyPr>
          <a:lstStyle/>
          <a:p>
            <a:pPr algn="l"/>
            <a:r>
              <a:rPr sz="1300" b="1">
                <a:solidFill>
                  <a:srgbClr val="FFFFFF"/>
                </a:solidFill>
                <a:latin typeface="Calibri"/>
              </a:rPr>
              <a:t>主要任务</a:t>
            </a:r>
          </a:p>
        </p:txBody>
      </p:sp>
      <p:sp>
        <p:nvSpPr>
          <p:cNvPr id="10" name="Rectangle 9"/>
          <p:cNvSpPr/>
          <p:nvPr/>
        </p:nvSpPr>
        <p:spPr>
          <a:xfrm>
            <a:off x="7205472"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0" y="1188720"/>
            <a:ext cx="2157984" cy="347472"/>
          </a:xfrm>
          <a:prstGeom prst="rect">
            <a:avLst/>
          </a:prstGeom>
          <a:noFill/>
        </p:spPr>
        <p:txBody>
          <a:bodyPr wrap="square">
            <a:spAutoFit/>
          </a:bodyPr>
          <a:lstStyle/>
          <a:p>
            <a:pPr algn="l"/>
            <a:r>
              <a:rPr sz="1300" b="1">
                <a:solidFill>
                  <a:srgbClr val="FFFFFF"/>
                </a:solidFill>
                <a:latin typeface="Calibri"/>
              </a:rPr>
              <a:t>负责方</a:t>
            </a:r>
          </a:p>
        </p:txBody>
      </p:sp>
      <p:sp>
        <p:nvSpPr>
          <p:cNvPr id="12" name="Rectangle 11"/>
          <p:cNvSpPr/>
          <p:nvPr/>
        </p:nvSpPr>
        <p:spPr>
          <a:xfrm>
            <a:off x="9454896" y="1143000"/>
            <a:ext cx="2203704" cy="438912"/>
          </a:xfrm>
          <a:prstGeom prst="rect">
            <a:avLst/>
          </a:prstGeom>
          <a:solidFill>
            <a:srgbClr val="14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73184" y="1188720"/>
            <a:ext cx="2157984" cy="347472"/>
          </a:xfrm>
          <a:prstGeom prst="rect">
            <a:avLst/>
          </a:prstGeom>
          <a:noFill/>
        </p:spPr>
        <p:txBody>
          <a:bodyPr wrap="square">
            <a:spAutoFit/>
          </a:bodyPr>
          <a:lstStyle/>
          <a:p>
            <a:pPr algn="l"/>
            <a:r>
              <a:rPr sz="1300" b="1">
                <a:solidFill>
                  <a:srgbClr val="FFFFFF"/>
                </a:solidFill>
                <a:latin typeface="Calibri"/>
              </a:rPr>
              <a:t>里程碑</a:t>
            </a:r>
          </a:p>
        </p:txBody>
      </p:sp>
      <p:sp>
        <p:nvSpPr>
          <p:cNvPr id="14" name="Rectangle 13"/>
          <p:cNvSpPr/>
          <p:nvPr/>
        </p:nvSpPr>
        <p:spPr>
          <a:xfrm>
            <a:off x="457200"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618488"/>
            <a:ext cx="2157984" cy="365759"/>
          </a:xfrm>
          <a:prstGeom prst="rect">
            <a:avLst/>
          </a:prstGeom>
          <a:noFill/>
        </p:spPr>
        <p:txBody>
          <a:bodyPr wrap="square">
            <a:spAutoFit/>
          </a:bodyPr>
          <a:lstStyle/>
          <a:p>
            <a:pPr algn="l"/>
            <a:r>
              <a:rPr sz="1200" b="0">
                <a:solidFill>
                  <a:srgbClr val="1A1A2E"/>
                </a:solidFill>
                <a:latin typeface="Calibri"/>
              </a:rPr>
              <a:t>准备期</a:t>
            </a:r>
          </a:p>
        </p:txBody>
      </p:sp>
      <p:sp>
        <p:nvSpPr>
          <p:cNvPr id="16" name="Rectangle 15"/>
          <p:cNvSpPr/>
          <p:nvPr/>
        </p:nvSpPr>
        <p:spPr>
          <a:xfrm>
            <a:off x="2706624"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52344" y="1618488"/>
            <a:ext cx="2157984" cy="276999"/>
          </a:xfrm>
          <a:prstGeom prst="rect">
            <a:avLst/>
          </a:prstGeom>
          <a:noFill/>
        </p:spPr>
        <p:txBody>
          <a:bodyPr wrap="square">
            <a:spAutoFit/>
          </a:bodyPr>
          <a:lstStyle/>
          <a:p>
            <a:r>
              <a:rPr lang="zh-CN" altLang="en-US" sz="1200" b="0" dirty="0">
                <a:solidFill>
                  <a:srgbClr val="1A1A2E"/>
                </a:solidFill>
                <a:latin typeface="Calibri"/>
              </a:rPr>
              <a:t>第</a:t>
            </a:r>
            <a:r>
              <a:rPr sz="1200" b="0" dirty="0">
                <a:solidFill>
                  <a:srgbClr val="1A1A2E"/>
                </a:solidFill>
                <a:latin typeface="Calibri"/>
              </a:rPr>
              <a:t>1–2</a:t>
            </a:r>
            <a:r>
              <a:rPr lang="zh-CN" altLang="en-US" sz="1200" dirty="0">
                <a:solidFill>
                  <a:srgbClr val="1A1A2E"/>
                </a:solidFill>
              </a:rPr>
              <a:t> 月</a:t>
            </a:r>
            <a:endParaRPr sz="1200" b="0" dirty="0">
              <a:solidFill>
                <a:srgbClr val="1A1A2E"/>
              </a:solidFill>
              <a:latin typeface="Calibri"/>
            </a:endParaRPr>
          </a:p>
        </p:txBody>
      </p:sp>
      <p:sp>
        <p:nvSpPr>
          <p:cNvPr id="18" name="Rectangle 17"/>
          <p:cNvSpPr/>
          <p:nvPr/>
        </p:nvSpPr>
        <p:spPr>
          <a:xfrm>
            <a:off x="4956048"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01768" y="1618488"/>
            <a:ext cx="2157984" cy="365759"/>
          </a:xfrm>
          <a:prstGeom prst="rect">
            <a:avLst/>
          </a:prstGeom>
          <a:noFill/>
        </p:spPr>
        <p:txBody>
          <a:bodyPr wrap="square">
            <a:spAutoFit/>
          </a:bodyPr>
          <a:lstStyle/>
          <a:p>
            <a:pPr algn="l"/>
            <a:r>
              <a:rPr sz="1200" b="0">
                <a:solidFill>
                  <a:srgbClr val="1A1A2E"/>
                </a:solidFill>
                <a:latin typeface="Calibri"/>
              </a:rPr>
              <a:t>组建内部DD工作组；完成供应商风险分级；签署SCoC</a:t>
            </a:r>
          </a:p>
        </p:txBody>
      </p:sp>
      <p:sp>
        <p:nvSpPr>
          <p:cNvPr id="20" name="Rectangle 19"/>
          <p:cNvSpPr/>
          <p:nvPr/>
        </p:nvSpPr>
        <p:spPr>
          <a:xfrm>
            <a:off x="7205472"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51192" y="1618488"/>
            <a:ext cx="2157984" cy="365759"/>
          </a:xfrm>
          <a:prstGeom prst="rect">
            <a:avLst/>
          </a:prstGeom>
          <a:noFill/>
        </p:spPr>
        <p:txBody>
          <a:bodyPr wrap="square">
            <a:spAutoFit/>
          </a:bodyPr>
          <a:lstStyle/>
          <a:p>
            <a:pPr algn="l"/>
            <a:r>
              <a:rPr sz="1200" b="0">
                <a:solidFill>
                  <a:srgbClr val="1A1A2E"/>
                </a:solidFill>
                <a:latin typeface="Calibri"/>
              </a:rPr>
              <a:t>采购+合规</a:t>
            </a:r>
          </a:p>
        </p:txBody>
      </p:sp>
      <p:sp>
        <p:nvSpPr>
          <p:cNvPr id="22" name="Rectangle 21"/>
          <p:cNvSpPr/>
          <p:nvPr/>
        </p:nvSpPr>
        <p:spPr>
          <a:xfrm>
            <a:off x="9454896" y="1581912"/>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0616" y="1618488"/>
            <a:ext cx="2157984" cy="365759"/>
          </a:xfrm>
          <a:prstGeom prst="rect">
            <a:avLst/>
          </a:prstGeom>
          <a:noFill/>
        </p:spPr>
        <p:txBody>
          <a:bodyPr wrap="square">
            <a:spAutoFit/>
          </a:bodyPr>
          <a:lstStyle/>
          <a:p>
            <a:pPr algn="l"/>
            <a:r>
              <a:rPr sz="1200" b="0">
                <a:solidFill>
                  <a:srgbClr val="1A1A2E"/>
                </a:solidFill>
                <a:latin typeface="Calibri"/>
              </a:rPr>
              <a:t>SCoC覆盖率&gt;80%</a:t>
            </a:r>
          </a:p>
        </p:txBody>
      </p:sp>
      <p:sp>
        <p:nvSpPr>
          <p:cNvPr id="24" name="Rectangle 23"/>
          <p:cNvSpPr/>
          <p:nvPr/>
        </p:nvSpPr>
        <p:spPr>
          <a:xfrm>
            <a:off x="457200"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2057400"/>
            <a:ext cx="2157984" cy="365759"/>
          </a:xfrm>
          <a:prstGeom prst="rect">
            <a:avLst/>
          </a:prstGeom>
          <a:noFill/>
        </p:spPr>
        <p:txBody>
          <a:bodyPr wrap="square">
            <a:spAutoFit/>
          </a:bodyPr>
          <a:lstStyle/>
          <a:p>
            <a:pPr algn="l"/>
            <a:r>
              <a:rPr sz="1200" b="0">
                <a:solidFill>
                  <a:srgbClr val="1A1A2E"/>
                </a:solidFill>
                <a:latin typeface="Calibri"/>
              </a:rPr>
              <a:t>启动期</a:t>
            </a:r>
          </a:p>
        </p:txBody>
      </p:sp>
      <p:sp>
        <p:nvSpPr>
          <p:cNvPr id="26" name="Rectangle 25"/>
          <p:cNvSpPr/>
          <p:nvPr/>
        </p:nvSpPr>
        <p:spPr>
          <a:xfrm>
            <a:off x="2706624"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52344" y="2057400"/>
            <a:ext cx="2157984" cy="276999"/>
          </a:xfrm>
          <a:prstGeom prst="rect">
            <a:avLst/>
          </a:prstGeom>
          <a:noFill/>
        </p:spPr>
        <p:txBody>
          <a:bodyPr wrap="square">
            <a:spAutoFit/>
          </a:bodyPr>
          <a:lstStyle/>
          <a:p>
            <a:r>
              <a:rPr lang="zh-CN" altLang="en-US" sz="1200" dirty="0">
                <a:solidFill>
                  <a:srgbClr val="1A1A2E"/>
                </a:solidFill>
              </a:rPr>
              <a:t>第</a:t>
            </a:r>
            <a:r>
              <a:rPr lang="en-US" altLang="zh-CN" sz="1200" dirty="0">
                <a:solidFill>
                  <a:srgbClr val="1A1A2E"/>
                </a:solidFill>
              </a:rPr>
              <a:t>3–4</a:t>
            </a:r>
            <a:r>
              <a:rPr lang="zh-CN" altLang="en-US" sz="1200" dirty="0">
                <a:solidFill>
                  <a:srgbClr val="1A1A2E"/>
                </a:solidFill>
              </a:rPr>
              <a:t> 月</a:t>
            </a:r>
          </a:p>
        </p:txBody>
      </p:sp>
      <p:sp>
        <p:nvSpPr>
          <p:cNvPr id="28" name="Rectangle 27"/>
          <p:cNvSpPr/>
          <p:nvPr/>
        </p:nvSpPr>
        <p:spPr>
          <a:xfrm>
            <a:off x="4956048"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01768" y="2057400"/>
            <a:ext cx="2157984" cy="365759"/>
          </a:xfrm>
          <a:prstGeom prst="rect">
            <a:avLst/>
          </a:prstGeom>
          <a:noFill/>
        </p:spPr>
        <p:txBody>
          <a:bodyPr wrap="square">
            <a:spAutoFit/>
          </a:bodyPr>
          <a:lstStyle/>
          <a:p>
            <a:pPr algn="l"/>
            <a:r>
              <a:rPr sz="1200" b="0">
                <a:solidFill>
                  <a:srgbClr val="1A1A2E"/>
                </a:solidFill>
                <a:latin typeface="Calibri"/>
              </a:rPr>
              <a:t>向供应商发送SAQ；培训内部审核员；选定审核机构</a:t>
            </a:r>
          </a:p>
        </p:txBody>
      </p:sp>
      <p:sp>
        <p:nvSpPr>
          <p:cNvPr id="30" name="Rectangle 29"/>
          <p:cNvSpPr/>
          <p:nvPr/>
        </p:nvSpPr>
        <p:spPr>
          <a:xfrm>
            <a:off x="7205472"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51192" y="2057400"/>
            <a:ext cx="2157984" cy="365759"/>
          </a:xfrm>
          <a:prstGeom prst="rect">
            <a:avLst/>
          </a:prstGeom>
          <a:noFill/>
        </p:spPr>
        <p:txBody>
          <a:bodyPr wrap="square">
            <a:spAutoFit/>
          </a:bodyPr>
          <a:lstStyle/>
          <a:p>
            <a:pPr algn="l"/>
            <a:r>
              <a:rPr sz="1200" b="0">
                <a:solidFill>
                  <a:srgbClr val="1A1A2E"/>
                </a:solidFill>
                <a:latin typeface="Calibri"/>
              </a:rPr>
              <a:t>采购+供应商</a:t>
            </a:r>
          </a:p>
        </p:txBody>
      </p:sp>
      <p:sp>
        <p:nvSpPr>
          <p:cNvPr id="32" name="Rectangle 31"/>
          <p:cNvSpPr/>
          <p:nvPr/>
        </p:nvSpPr>
        <p:spPr>
          <a:xfrm>
            <a:off x="9454896" y="2020824"/>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00616" y="2057400"/>
            <a:ext cx="2157984" cy="365759"/>
          </a:xfrm>
          <a:prstGeom prst="rect">
            <a:avLst/>
          </a:prstGeom>
          <a:noFill/>
        </p:spPr>
        <p:txBody>
          <a:bodyPr wrap="square">
            <a:spAutoFit/>
          </a:bodyPr>
          <a:lstStyle/>
          <a:p>
            <a:pPr algn="l"/>
            <a:r>
              <a:rPr sz="1200" b="0">
                <a:solidFill>
                  <a:srgbClr val="1A1A2E"/>
                </a:solidFill>
                <a:latin typeface="Calibri"/>
              </a:rPr>
              <a:t>SAQ回收率&gt;70%</a:t>
            </a:r>
          </a:p>
        </p:txBody>
      </p:sp>
      <p:sp>
        <p:nvSpPr>
          <p:cNvPr id="34" name="Rectangle 33"/>
          <p:cNvSpPr/>
          <p:nvPr/>
        </p:nvSpPr>
        <p:spPr>
          <a:xfrm>
            <a:off x="457200"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2496312"/>
            <a:ext cx="2157984" cy="365759"/>
          </a:xfrm>
          <a:prstGeom prst="rect">
            <a:avLst/>
          </a:prstGeom>
          <a:noFill/>
        </p:spPr>
        <p:txBody>
          <a:bodyPr wrap="square">
            <a:spAutoFit/>
          </a:bodyPr>
          <a:lstStyle/>
          <a:p>
            <a:pPr algn="l"/>
            <a:r>
              <a:rPr sz="1200" b="0">
                <a:solidFill>
                  <a:srgbClr val="1A1A2E"/>
                </a:solidFill>
                <a:latin typeface="Calibri"/>
              </a:rPr>
              <a:t>审核期</a:t>
            </a:r>
          </a:p>
        </p:txBody>
      </p:sp>
      <p:sp>
        <p:nvSpPr>
          <p:cNvPr id="36" name="Rectangle 35"/>
          <p:cNvSpPr/>
          <p:nvPr/>
        </p:nvSpPr>
        <p:spPr>
          <a:xfrm>
            <a:off x="2706624"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52344" y="2496312"/>
            <a:ext cx="2157984" cy="276999"/>
          </a:xfrm>
          <a:prstGeom prst="rect">
            <a:avLst/>
          </a:prstGeom>
          <a:noFill/>
        </p:spPr>
        <p:txBody>
          <a:bodyPr wrap="square">
            <a:spAutoFit/>
          </a:bodyPr>
          <a:lstStyle/>
          <a:p>
            <a:r>
              <a:rPr lang="zh-CN" altLang="en-US" sz="1200" dirty="0">
                <a:solidFill>
                  <a:srgbClr val="1A1A2E"/>
                </a:solidFill>
              </a:rPr>
              <a:t>第</a:t>
            </a:r>
            <a:r>
              <a:rPr lang="en-US" altLang="zh-CN" sz="1200" dirty="0">
                <a:solidFill>
                  <a:srgbClr val="1A1A2E"/>
                </a:solidFill>
              </a:rPr>
              <a:t>5–9</a:t>
            </a:r>
            <a:r>
              <a:rPr lang="zh-CN" altLang="en-US" sz="1200" dirty="0">
                <a:solidFill>
                  <a:srgbClr val="1A1A2E"/>
                </a:solidFill>
              </a:rPr>
              <a:t>月</a:t>
            </a:r>
          </a:p>
        </p:txBody>
      </p:sp>
      <p:sp>
        <p:nvSpPr>
          <p:cNvPr id="38" name="Rectangle 37"/>
          <p:cNvSpPr/>
          <p:nvPr/>
        </p:nvSpPr>
        <p:spPr>
          <a:xfrm>
            <a:off x="4956048"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01768" y="2496312"/>
            <a:ext cx="2157984" cy="365759"/>
          </a:xfrm>
          <a:prstGeom prst="rect">
            <a:avLst/>
          </a:prstGeom>
          <a:noFill/>
        </p:spPr>
        <p:txBody>
          <a:bodyPr wrap="square">
            <a:spAutoFit/>
          </a:bodyPr>
          <a:lstStyle/>
          <a:p>
            <a:pPr algn="l"/>
            <a:r>
              <a:rPr sz="1200" b="0">
                <a:solidFill>
                  <a:srgbClr val="1A1A2E"/>
                </a:solidFill>
                <a:latin typeface="Calibri"/>
              </a:rPr>
              <a:t>对高风险供应商开展现场审核；建立CAP跟进机制</a:t>
            </a:r>
          </a:p>
        </p:txBody>
      </p:sp>
      <p:sp>
        <p:nvSpPr>
          <p:cNvPr id="40" name="Rectangle 39"/>
          <p:cNvSpPr/>
          <p:nvPr/>
        </p:nvSpPr>
        <p:spPr>
          <a:xfrm>
            <a:off x="7205472"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51192" y="2496312"/>
            <a:ext cx="2157984" cy="365759"/>
          </a:xfrm>
          <a:prstGeom prst="rect">
            <a:avLst/>
          </a:prstGeom>
          <a:noFill/>
        </p:spPr>
        <p:txBody>
          <a:bodyPr wrap="square">
            <a:spAutoFit/>
          </a:bodyPr>
          <a:lstStyle/>
          <a:p>
            <a:pPr algn="l"/>
            <a:r>
              <a:rPr sz="1200" b="0">
                <a:solidFill>
                  <a:srgbClr val="1A1A2E"/>
                </a:solidFill>
                <a:latin typeface="Calibri"/>
              </a:rPr>
              <a:t>第三方审核机构</a:t>
            </a:r>
          </a:p>
        </p:txBody>
      </p:sp>
      <p:sp>
        <p:nvSpPr>
          <p:cNvPr id="42" name="Rectangle 41"/>
          <p:cNvSpPr/>
          <p:nvPr/>
        </p:nvSpPr>
        <p:spPr>
          <a:xfrm>
            <a:off x="9454896" y="2459736"/>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500616" y="2496312"/>
            <a:ext cx="2157984" cy="365759"/>
          </a:xfrm>
          <a:prstGeom prst="rect">
            <a:avLst/>
          </a:prstGeom>
          <a:noFill/>
        </p:spPr>
        <p:txBody>
          <a:bodyPr wrap="square">
            <a:spAutoFit/>
          </a:bodyPr>
          <a:lstStyle/>
          <a:p>
            <a:pPr algn="l"/>
            <a:r>
              <a:rPr sz="1200" b="0">
                <a:solidFill>
                  <a:srgbClr val="1A1A2E"/>
                </a:solidFill>
                <a:latin typeface="Calibri"/>
              </a:rPr>
              <a:t>高风险供应商完成首轮审核</a:t>
            </a:r>
          </a:p>
        </p:txBody>
      </p:sp>
      <p:sp>
        <p:nvSpPr>
          <p:cNvPr id="44" name="Rectangle 43"/>
          <p:cNvSpPr/>
          <p:nvPr/>
        </p:nvSpPr>
        <p:spPr>
          <a:xfrm>
            <a:off x="457200"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2920" y="2935224"/>
            <a:ext cx="2157984" cy="365759"/>
          </a:xfrm>
          <a:prstGeom prst="rect">
            <a:avLst/>
          </a:prstGeom>
          <a:noFill/>
        </p:spPr>
        <p:txBody>
          <a:bodyPr wrap="square">
            <a:spAutoFit/>
          </a:bodyPr>
          <a:lstStyle/>
          <a:p>
            <a:pPr algn="l"/>
            <a:r>
              <a:rPr sz="1200" b="0">
                <a:solidFill>
                  <a:srgbClr val="1A1A2E"/>
                </a:solidFill>
                <a:latin typeface="Calibri"/>
              </a:rPr>
              <a:t>整合期</a:t>
            </a:r>
          </a:p>
        </p:txBody>
      </p:sp>
      <p:sp>
        <p:nvSpPr>
          <p:cNvPr id="46" name="Rectangle 45"/>
          <p:cNvSpPr/>
          <p:nvPr/>
        </p:nvSpPr>
        <p:spPr>
          <a:xfrm>
            <a:off x="2706624"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52344" y="2935224"/>
            <a:ext cx="2157984" cy="276999"/>
          </a:xfrm>
          <a:prstGeom prst="rect">
            <a:avLst/>
          </a:prstGeom>
          <a:noFill/>
        </p:spPr>
        <p:txBody>
          <a:bodyPr wrap="square">
            <a:spAutoFit/>
          </a:bodyPr>
          <a:lstStyle/>
          <a:p>
            <a:r>
              <a:rPr lang="zh-CN" altLang="en-US" sz="1200" dirty="0">
                <a:solidFill>
                  <a:srgbClr val="1A1A2E"/>
                </a:solidFill>
              </a:rPr>
              <a:t>第</a:t>
            </a:r>
            <a:r>
              <a:rPr lang="en-US" altLang="zh-CN" sz="1200" dirty="0">
                <a:solidFill>
                  <a:srgbClr val="1A1A2E"/>
                </a:solidFill>
              </a:rPr>
              <a:t>10–12</a:t>
            </a:r>
            <a:r>
              <a:rPr lang="zh-CN" altLang="en-US" sz="1200" dirty="0">
                <a:solidFill>
                  <a:srgbClr val="1A1A2E"/>
                </a:solidFill>
              </a:rPr>
              <a:t> 月</a:t>
            </a:r>
          </a:p>
        </p:txBody>
      </p:sp>
      <p:sp>
        <p:nvSpPr>
          <p:cNvPr id="48" name="Rectangle 47"/>
          <p:cNvSpPr/>
          <p:nvPr/>
        </p:nvSpPr>
        <p:spPr>
          <a:xfrm>
            <a:off x="4956048"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01768" y="2935224"/>
            <a:ext cx="2157984" cy="365759"/>
          </a:xfrm>
          <a:prstGeom prst="rect">
            <a:avLst/>
          </a:prstGeom>
          <a:noFill/>
        </p:spPr>
        <p:txBody>
          <a:bodyPr wrap="square">
            <a:spAutoFit/>
          </a:bodyPr>
          <a:lstStyle/>
          <a:p>
            <a:pPr algn="l"/>
            <a:r>
              <a:rPr sz="1200" b="0">
                <a:solidFill>
                  <a:srgbClr val="1A1A2E"/>
                </a:solidFill>
                <a:latin typeface="Calibri"/>
              </a:rPr>
              <a:t>将DD数据整合至采购决策；建立供应商绩效评分</a:t>
            </a:r>
          </a:p>
        </p:txBody>
      </p:sp>
      <p:sp>
        <p:nvSpPr>
          <p:cNvPr id="50" name="Rectangle 49"/>
          <p:cNvSpPr/>
          <p:nvPr/>
        </p:nvSpPr>
        <p:spPr>
          <a:xfrm>
            <a:off x="7205472"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251192" y="2935224"/>
            <a:ext cx="2157984" cy="365759"/>
          </a:xfrm>
          <a:prstGeom prst="rect">
            <a:avLst/>
          </a:prstGeom>
          <a:noFill/>
        </p:spPr>
        <p:txBody>
          <a:bodyPr wrap="square">
            <a:spAutoFit/>
          </a:bodyPr>
          <a:lstStyle/>
          <a:p>
            <a:pPr algn="l"/>
            <a:r>
              <a:rPr sz="1200" b="0">
                <a:solidFill>
                  <a:srgbClr val="1A1A2E"/>
                </a:solidFill>
                <a:latin typeface="Calibri"/>
              </a:rPr>
              <a:t>IT+采购</a:t>
            </a:r>
          </a:p>
        </p:txBody>
      </p:sp>
      <p:sp>
        <p:nvSpPr>
          <p:cNvPr id="52" name="Rectangle 51"/>
          <p:cNvSpPr/>
          <p:nvPr/>
        </p:nvSpPr>
        <p:spPr>
          <a:xfrm>
            <a:off x="9454896" y="2898648"/>
            <a:ext cx="2203704" cy="42062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500616" y="2935224"/>
            <a:ext cx="2157984" cy="365759"/>
          </a:xfrm>
          <a:prstGeom prst="rect">
            <a:avLst/>
          </a:prstGeom>
          <a:noFill/>
        </p:spPr>
        <p:txBody>
          <a:bodyPr wrap="square">
            <a:spAutoFit/>
          </a:bodyPr>
          <a:lstStyle/>
          <a:p>
            <a:pPr algn="l"/>
            <a:r>
              <a:rPr sz="1200" b="0">
                <a:solidFill>
                  <a:srgbClr val="1A1A2E"/>
                </a:solidFill>
                <a:latin typeface="Calibri"/>
              </a:rPr>
              <a:t>供应商评分体系上线</a:t>
            </a:r>
          </a:p>
        </p:txBody>
      </p:sp>
      <p:sp>
        <p:nvSpPr>
          <p:cNvPr id="54" name="Rectangle 53"/>
          <p:cNvSpPr/>
          <p:nvPr/>
        </p:nvSpPr>
        <p:spPr>
          <a:xfrm>
            <a:off x="457200"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2920" y="3374136"/>
            <a:ext cx="2157984" cy="365759"/>
          </a:xfrm>
          <a:prstGeom prst="rect">
            <a:avLst/>
          </a:prstGeom>
          <a:noFill/>
        </p:spPr>
        <p:txBody>
          <a:bodyPr wrap="square">
            <a:spAutoFit/>
          </a:bodyPr>
          <a:lstStyle/>
          <a:p>
            <a:pPr algn="l"/>
            <a:r>
              <a:rPr sz="1200" b="0">
                <a:solidFill>
                  <a:srgbClr val="1A1A2E"/>
                </a:solidFill>
                <a:latin typeface="Calibri"/>
              </a:rPr>
              <a:t>成熟期</a:t>
            </a:r>
          </a:p>
        </p:txBody>
      </p:sp>
      <p:sp>
        <p:nvSpPr>
          <p:cNvPr id="56" name="Rectangle 55"/>
          <p:cNvSpPr/>
          <p:nvPr/>
        </p:nvSpPr>
        <p:spPr>
          <a:xfrm>
            <a:off x="2706624"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52344" y="3374136"/>
            <a:ext cx="2157984" cy="276999"/>
          </a:xfrm>
          <a:prstGeom prst="rect">
            <a:avLst/>
          </a:prstGeom>
          <a:noFill/>
        </p:spPr>
        <p:txBody>
          <a:bodyPr wrap="square">
            <a:spAutoFit/>
          </a:bodyPr>
          <a:lstStyle/>
          <a:p>
            <a:pPr algn="l"/>
            <a:r>
              <a:rPr lang="zh-CN" altLang="en-US" sz="1200" b="0" dirty="0">
                <a:solidFill>
                  <a:srgbClr val="1A1A2E"/>
                </a:solidFill>
                <a:latin typeface="Calibri"/>
              </a:rPr>
              <a:t>第二年</a:t>
            </a:r>
            <a:endParaRPr sz="1200" b="0" dirty="0">
              <a:solidFill>
                <a:srgbClr val="1A1A2E"/>
              </a:solidFill>
              <a:latin typeface="Calibri"/>
            </a:endParaRPr>
          </a:p>
        </p:txBody>
      </p:sp>
      <p:sp>
        <p:nvSpPr>
          <p:cNvPr id="58" name="Rectangle 57"/>
          <p:cNvSpPr/>
          <p:nvPr/>
        </p:nvSpPr>
        <p:spPr>
          <a:xfrm>
            <a:off x="4956048"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01768" y="3374136"/>
            <a:ext cx="2157984" cy="365759"/>
          </a:xfrm>
          <a:prstGeom prst="rect">
            <a:avLst/>
          </a:prstGeom>
          <a:noFill/>
        </p:spPr>
        <p:txBody>
          <a:bodyPr wrap="square">
            <a:spAutoFit/>
          </a:bodyPr>
          <a:lstStyle/>
          <a:p>
            <a:pPr algn="l"/>
            <a:r>
              <a:rPr sz="1200" b="0">
                <a:solidFill>
                  <a:srgbClr val="1A1A2E"/>
                </a:solidFill>
                <a:latin typeface="Calibri"/>
              </a:rPr>
              <a:t>持续监测；扩展至二级供应商；发布年度DD报告</a:t>
            </a:r>
          </a:p>
        </p:txBody>
      </p:sp>
      <p:sp>
        <p:nvSpPr>
          <p:cNvPr id="60" name="Rectangle 59"/>
          <p:cNvSpPr/>
          <p:nvPr/>
        </p:nvSpPr>
        <p:spPr>
          <a:xfrm>
            <a:off x="7205472"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251192" y="3374136"/>
            <a:ext cx="2157984" cy="365759"/>
          </a:xfrm>
          <a:prstGeom prst="rect">
            <a:avLst/>
          </a:prstGeom>
          <a:noFill/>
        </p:spPr>
        <p:txBody>
          <a:bodyPr wrap="square">
            <a:spAutoFit/>
          </a:bodyPr>
          <a:lstStyle/>
          <a:p>
            <a:pPr algn="l"/>
            <a:r>
              <a:rPr sz="1200" b="0">
                <a:solidFill>
                  <a:srgbClr val="1A1A2E"/>
                </a:solidFill>
                <a:latin typeface="Calibri"/>
              </a:rPr>
              <a:t>全部</a:t>
            </a:r>
          </a:p>
        </p:txBody>
      </p:sp>
      <p:sp>
        <p:nvSpPr>
          <p:cNvPr id="62" name="Rectangle 61"/>
          <p:cNvSpPr/>
          <p:nvPr/>
        </p:nvSpPr>
        <p:spPr>
          <a:xfrm>
            <a:off x="9454896" y="3337560"/>
            <a:ext cx="2203704" cy="420623"/>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500616" y="3374136"/>
            <a:ext cx="2157984" cy="365759"/>
          </a:xfrm>
          <a:prstGeom prst="rect">
            <a:avLst/>
          </a:prstGeom>
          <a:noFill/>
        </p:spPr>
        <p:txBody>
          <a:bodyPr wrap="square">
            <a:spAutoFit/>
          </a:bodyPr>
          <a:lstStyle/>
          <a:p>
            <a:pPr algn="l"/>
            <a:r>
              <a:rPr sz="1200" b="0">
                <a:solidFill>
                  <a:srgbClr val="1A1A2E"/>
                </a:solidFill>
                <a:latin typeface="Calibri"/>
              </a:rPr>
              <a:t>对外发布合规报告</a:t>
            </a:r>
          </a:p>
        </p:txBody>
      </p:sp>
      <p:sp>
        <p:nvSpPr>
          <p:cNvPr id="64" name="Rectangle 63"/>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1430000" cy="868680"/>
          </a:xfrm>
          <a:prstGeom prst="rect">
            <a:avLst/>
          </a:prstGeom>
          <a:noFill/>
        </p:spPr>
        <p:txBody>
          <a:bodyPr wrap="square">
            <a:spAutoFit/>
          </a:bodyPr>
          <a:lstStyle/>
          <a:p>
            <a:pPr algn="l"/>
            <a:r>
              <a:rPr sz="2800" b="1">
                <a:solidFill>
                  <a:srgbClr val="FFFFFF"/>
                </a:solidFill>
                <a:latin typeface="Calibri"/>
              </a:rPr>
              <a:t>我们请求管理层批准以下事项</a:t>
            </a:r>
          </a:p>
        </p:txBody>
      </p:sp>
      <p:sp>
        <p:nvSpPr>
          <p:cNvPr id="4" name="TextBox 3"/>
          <p:cNvSpPr txBox="1"/>
          <p:nvPr/>
        </p:nvSpPr>
        <p:spPr>
          <a:xfrm>
            <a:off x="457200" y="1143000"/>
            <a:ext cx="11247120" cy="5120640"/>
          </a:xfrm>
          <a:prstGeom prst="rect">
            <a:avLst/>
          </a:prstGeom>
          <a:noFill/>
        </p:spPr>
        <p:txBody>
          <a:bodyPr wrap="square">
            <a:spAutoFit/>
          </a:bodyPr>
          <a:lstStyle/>
          <a:p>
            <a:pPr>
              <a:spcBef>
                <a:spcPts val="400"/>
              </a:spcBef>
            </a:pPr>
            <a:r>
              <a:rPr sz="1800">
                <a:solidFill>
                  <a:srgbClr val="1A1A2E"/>
                </a:solidFill>
                <a:latin typeface="Calibri"/>
              </a:rPr>
              <a:t>• ✅  事项一：批准成立供应链合规工作组，指定[职位]担任负责人</a:t>
            </a:r>
          </a:p>
          <a:p>
            <a:pPr>
              <a:spcBef>
                <a:spcPts val="400"/>
              </a:spcBef>
            </a:pPr>
            <a:r>
              <a:rPr sz="1800">
                <a:solidFill>
                  <a:srgbClr val="1A1A2E"/>
                </a:solidFill>
                <a:latin typeface="Calibri"/>
              </a:rPr>
              <a:t>• ✅  事项二：批准Year 1预算 ¥[XXX]万用于DD体系建设</a:t>
            </a:r>
          </a:p>
          <a:p>
            <a:pPr>
              <a:spcBef>
                <a:spcPts val="400"/>
              </a:spcBef>
            </a:pPr>
            <a:r>
              <a:rPr sz="1800">
                <a:solidFill>
                  <a:srgbClr val="1A1A2E"/>
                </a:solidFill>
                <a:latin typeface="Calibri"/>
              </a:rPr>
              <a:t>• ✅  事项三：授权将SCoC签署纳入所有新供应商合同的必要条款</a:t>
            </a:r>
          </a:p>
          <a:p>
            <a:pPr>
              <a:spcBef>
                <a:spcPts val="400"/>
              </a:spcBef>
            </a:pPr>
            <a:r>
              <a:rPr sz="1800">
                <a:solidFill>
                  <a:srgbClr val="1A1A2E"/>
                </a:solidFill>
                <a:latin typeface="Calibri"/>
              </a:rPr>
              <a:t>• ✅  事项四：批准采购Sedex/EcoVadis等合规数据管理平台（年费约¥[XX]万）</a:t>
            </a:r>
          </a:p>
          <a:p>
            <a:pPr>
              <a:spcBef>
                <a:spcPts val="400"/>
              </a:spcBef>
            </a:pPr>
            <a:r>
              <a:rPr sz="1800">
                <a:solidFill>
                  <a:srgbClr val="1A1A2E"/>
                </a:solidFill>
                <a:latin typeface="Calibri"/>
              </a:rPr>
              <a:t>• </a:t>
            </a:r>
          </a:p>
          <a:p>
            <a:pPr>
              <a:spcBef>
                <a:spcPts val="400"/>
              </a:spcBef>
            </a:pPr>
            <a:r>
              <a:rPr sz="1800">
                <a:solidFill>
                  <a:srgbClr val="1A1A2E"/>
                </a:solidFill>
                <a:latin typeface="Calibri"/>
              </a:rPr>
              <a:t>• ⏰  建议决策时限：[日期]（以确保在客户下次审核前完成基础建设）</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510528"/>
            <a:ext cx="11430000" cy="320040"/>
          </a:xfrm>
          <a:prstGeom prst="rect">
            <a:avLst/>
          </a:prstGeom>
          <a:noFill/>
        </p:spPr>
        <p:txBody>
          <a:bodyPr wrap="square">
            <a:spAutoFit/>
          </a:bodyPr>
          <a:lstStyle/>
          <a:p>
            <a:pPr algn="l"/>
            <a:r>
              <a:rPr sz="1000" b="0">
                <a:solidFill>
                  <a:srgbClr val="FFFFFF"/>
                </a:solidFill>
                <a:latin typeface="Calibri"/>
              </a:rPr>
              <a:t>[公司名称] | 供应链尽职调查项目</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0"/>
            <a:ext cx="11247120" cy="1371600"/>
          </a:xfrm>
          <a:prstGeom prst="rect">
            <a:avLst/>
          </a:prstGeom>
          <a:noFill/>
        </p:spPr>
        <p:txBody>
          <a:bodyPr wrap="square">
            <a:spAutoFit/>
          </a:bodyPr>
          <a:lstStyle/>
          <a:p>
            <a:pPr algn="ctr"/>
            <a:r>
              <a:rPr sz="3600" b="1">
                <a:solidFill>
                  <a:srgbClr val="FFFFFF"/>
                </a:solidFill>
                <a:latin typeface="Calibri"/>
              </a:rPr>
              <a:t>立即行动：供应链合规是战略资产，不是成本中心</a:t>
            </a:r>
          </a:p>
        </p:txBody>
      </p:sp>
      <p:sp>
        <p:nvSpPr>
          <p:cNvPr id="4" name="Rectangle 3"/>
          <p:cNvSpPr/>
          <p:nvPr/>
        </p:nvSpPr>
        <p:spPr>
          <a:xfrm>
            <a:off x="914400" y="2194560"/>
            <a:ext cx="10360152" cy="73152"/>
          </a:xfrm>
          <a:prstGeom prst="rect">
            <a:avLst/>
          </a:prstGeom>
          <a:solidFill>
            <a:srgbClr val="F18F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2468880"/>
            <a:ext cx="320040" cy="320040"/>
          </a:xfrm>
          <a:prstGeom prst="rect">
            <a:avLst/>
          </a:prstGeom>
          <a:solidFill>
            <a:srgbClr val="F18F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450592"/>
            <a:ext cx="9601200" cy="457200"/>
          </a:xfrm>
          <a:prstGeom prst="rect">
            <a:avLst/>
          </a:prstGeom>
          <a:noFill/>
        </p:spPr>
        <p:txBody>
          <a:bodyPr wrap="square">
            <a:spAutoFit/>
          </a:bodyPr>
          <a:lstStyle/>
          <a:p>
            <a:pPr algn="l"/>
            <a:r>
              <a:rPr sz="1800" b="0">
                <a:solidFill>
                  <a:srgbClr val="FFFFFF"/>
                </a:solidFill>
                <a:latin typeface="Calibri"/>
              </a:rPr>
              <a:t>下一步：批准预算，任命项目负责人</a:t>
            </a:r>
          </a:p>
        </p:txBody>
      </p:sp>
      <p:sp>
        <p:nvSpPr>
          <p:cNvPr id="7" name="Rectangle 6"/>
          <p:cNvSpPr/>
          <p:nvPr/>
        </p:nvSpPr>
        <p:spPr>
          <a:xfrm>
            <a:off x="914400" y="3291840"/>
            <a:ext cx="320040" cy="320040"/>
          </a:xfrm>
          <a:prstGeom prst="rect">
            <a:avLst/>
          </a:prstGeom>
          <a:solidFill>
            <a:srgbClr val="F18F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3273552"/>
            <a:ext cx="9601200" cy="457200"/>
          </a:xfrm>
          <a:prstGeom prst="rect">
            <a:avLst/>
          </a:prstGeom>
          <a:noFill/>
        </p:spPr>
        <p:txBody>
          <a:bodyPr wrap="square">
            <a:spAutoFit/>
          </a:bodyPr>
          <a:lstStyle/>
          <a:p>
            <a:pPr algn="l"/>
            <a:r>
              <a:rPr sz="1800" b="0">
                <a:solidFill>
                  <a:srgbClr val="FFFFFF"/>
                </a:solidFill>
                <a:latin typeface="Calibri"/>
              </a:rPr>
              <a:t>第一个里程碑：[日期]前完成SCoC修订并发送全部供应商</a:t>
            </a:r>
          </a:p>
        </p:txBody>
      </p:sp>
      <p:sp>
        <p:nvSpPr>
          <p:cNvPr id="9" name="Rectangle 8"/>
          <p:cNvSpPr/>
          <p:nvPr/>
        </p:nvSpPr>
        <p:spPr>
          <a:xfrm>
            <a:off x="914400" y="4114800"/>
            <a:ext cx="320040" cy="320040"/>
          </a:xfrm>
          <a:prstGeom prst="rect">
            <a:avLst/>
          </a:prstGeom>
          <a:solidFill>
            <a:srgbClr val="F18F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4096512"/>
            <a:ext cx="9601200" cy="457200"/>
          </a:xfrm>
          <a:prstGeom prst="rect">
            <a:avLst/>
          </a:prstGeom>
          <a:noFill/>
        </p:spPr>
        <p:txBody>
          <a:bodyPr wrap="square">
            <a:spAutoFit/>
          </a:bodyPr>
          <a:lstStyle/>
          <a:p>
            <a:pPr algn="l"/>
            <a:r>
              <a:rPr sz="1800" b="0">
                <a:solidFill>
                  <a:srgbClr val="FFFFFF"/>
                </a:solidFill>
                <a:latin typeface="Calibri"/>
              </a:rPr>
              <a:t>我们已准备好详细项目计划和供应商名单风险分级</a:t>
            </a:r>
          </a:p>
        </p:txBody>
      </p:sp>
      <p:sp>
        <p:nvSpPr>
          <p:cNvPr id="11" name="TextBox 10"/>
          <p:cNvSpPr txBox="1"/>
          <p:nvPr/>
        </p:nvSpPr>
        <p:spPr>
          <a:xfrm>
            <a:off x="457200" y="6126480"/>
            <a:ext cx="11247120" cy="457200"/>
          </a:xfrm>
          <a:prstGeom prst="rect">
            <a:avLst/>
          </a:prstGeom>
          <a:noFill/>
        </p:spPr>
        <p:txBody>
          <a:bodyPr wrap="square">
            <a:spAutoFit/>
          </a:bodyPr>
          <a:lstStyle/>
          <a:p>
            <a:pPr algn="ctr"/>
            <a:r>
              <a:rPr sz="1300" b="0">
                <a:solidFill>
                  <a:srgbClr val="6C757D"/>
                </a:solidFill>
                <a:latin typeface="Calibri"/>
              </a:rPr>
              <a:t>[联系人姓名] | [邮箱] | [电话]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1013</Words>
  <Application>Microsoft Office PowerPoint</Application>
  <PresentationFormat>Custom</PresentationFormat>
  <Paragraphs>214</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Jack Zhong</cp:lastModifiedBy>
  <cp:revision>1</cp:revision>
  <dcterms:created xsi:type="dcterms:W3CDTF">2013-01-27T09:14:16Z</dcterms:created>
  <dcterms:modified xsi:type="dcterms:W3CDTF">2026-04-06T09:10:28Z</dcterms:modified>
  <cp:category/>
</cp:coreProperties>
</file>