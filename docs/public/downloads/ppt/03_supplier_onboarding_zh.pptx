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92" d="100"/>
          <a:sy n="92" d="100"/>
        </p:scale>
        <p:origin x="102" y="50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ack Zhong" userId="103a72fdc47caf9a" providerId="LiveId" clId="{241CEE3F-E019-4D18-BE04-9ADE5BA626CC}"/>
    <pc:docChg chg="undo custSel modSld">
      <pc:chgData name="Jack Zhong" userId="103a72fdc47caf9a" providerId="LiveId" clId="{241CEE3F-E019-4D18-BE04-9ADE5BA626CC}" dt="2026-04-06T09:14:37.743" v="13" actId="20577"/>
      <pc:docMkLst>
        <pc:docMk/>
      </pc:docMkLst>
      <pc:sldChg chg="modSp mod">
        <pc:chgData name="Jack Zhong" userId="103a72fdc47caf9a" providerId="LiveId" clId="{241CEE3F-E019-4D18-BE04-9ADE5BA626CC}" dt="2026-04-06T09:14:37.743" v="13" actId="20577"/>
        <pc:sldMkLst>
          <pc:docMk/>
          <pc:sldMk cId="0" sldId="268"/>
        </pc:sldMkLst>
        <pc:spChg chg="mod">
          <ac:chgData name="Jack Zhong" userId="103a72fdc47caf9a" providerId="LiveId" clId="{241CEE3F-E019-4D18-BE04-9ADE5BA626CC}" dt="2026-04-06T09:14:37.743" v="13" actId="20577"/>
          <ac:spMkLst>
            <pc:docMk/>
            <pc:sldMk cId="0" sldId="268"/>
            <ac:spMk id="4" creationId="{00000000-0000-0000-0000-000000000000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7315200" cy="6858000"/>
          </a:xfrm>
          <a:prstGeom prst="rect">
            <a:avLst/>
          </a:prstGeom>
          <a:solidFill>
            <a:srgbClr val="147F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6400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Calibri"/>
              </a:rPr>
              <a:t>欢迎成为我们的
合格供应商合作伙伴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206240"/>
            <a:ext cx="6400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  <a:latin typeface="Calibri"/>
              </a:rPr>
              <a:t>供应商合规要求培训 | [公司名称]采购合规部门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80960" y="3200400"/>
            <a:ext cx="4114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E3A5F"/>
                </a:solidFill>
                <a:latin typeface="Calibri"/>
              </a:rPr>
              <a:t>[演讲者姓名/职位]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80960" y="384048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C757D"/>
                </a:solidFill>
                <a:latin typeface="Calibri"/>
              </a:rPr>
              <a:t>[日期]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80960" y="621792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C757D"/>
                </a:solidFill>
                <a:latin typeface="Calibri"/>
              </a:rPr>
              <a:t>供应链尽职调查系列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今天我们将介绍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800">
                <a:solidFill>
                  <a:srgbClr val="1A1A2E"/>
                </a:solidFill>
                <a:latin typeface="Calibri"/>
              </a:rPr>
              <a:t>• 1.  为什么我们有这些合规要求</a:t>
            </a:r>
          </a:p>
          <a:p>
            <a:pPr>
              <a:spcBef>
                <a:spcPts val="400"/>
              </a:spcBef>
            </a:pPr>
            <a:r>
              <a:rPr sz="1800">
                <a:solidFill>
                  <a:srgbClr val="1A1A2E"/>
                </a:solidFill>
                <a:latin typeface="Calibri"/>
              </a:rPr>
              <a:t>• 2.  我们的期望：六大合规领域概述</a:t>
            </a:r>
          </a:p>
          <a:p>
            <a:pPr>
              <a:spcBef>
                <a:spcPts val="400"/>
              </a:spcBef>
            </a:pPr>
            <a:r>
              <a:rPr sz="1800">
                <a:solidFill>
                  <a:srgbClr val="1A1A2E"/>
                </a:solidFill>
                <a:latin typeface="Calibri"/>
              </a:rPr>
              <a:t>• 3.  供应商行为准则（SCoC）——您需要签署和履行的承诺</a:t>
            </a:r>
          </a:p>
          <a:p>
            <a:pPr>
              <a:spcBef>
                <a:spcPts val="400"/>
              </a:spcBef>
            </a:pPr>
            <a:r>
              <a:rPr sz="1800">
                <a:solidFill>
                  <a:srgbClr val="1A1A2E"/>
                </a:solidFill>
                <a:latin typeface="Calibri"/>
              </a:rPr>
              <a:t>• 4.  自评问卷（SAQ）——如何填写和提交</a:t>
            </a:r>
          </a:p>
          <a:p>
            <a:pPr>
              <a:spcBef>
                <a:spcPts val="400"/>
              </a:spcBef>
            </a:pPr>
            <a:r>
              <a:rPr sz="1800">
                <a:solidFill>
                  <a:srgbClr val="1A1A2E"/>
                </a:solidFill>
                <a:latin typeface="Calibri"/>
              </a:rPr>
              <a:t>• 5.  审核流程——您将经历什么</a:t>
            </a:r>
          </a:p>
          <a:p>
            <a:pPr>
              <a:spcBef>
                <a:spcPts val="400"/>
              </a:spcBef>
            </a:pPr>
            <a:r>
              <a:rPr sz="1800">
                <a:solidFill>
                  <a:srgbClr val="1A1A2E"/>
                </a:solidFill>
                <a:latin typeface="Calibri"/>
              </a:rPr>
              <a:t>• 6.  发现问题后的处理方式</a:t>
            </a:r>
          </a:p>
          <a:p>
            <a:pPr>
              <a:spcBef>
                <a:spcPts val="400"/>
              </a:spcBef>
            </a:pPr>
            <a:r>
              <a:rPr sz="1800">
                <a:solidFill>
                  <a:srgbClr val="1A1A2E"/>
                </a:solidFill>
                <a:latin typeface="Calibri"/>
              </a:rPr>
              <a:t>• 7.  我们为您提供的支持资源</a:t>
            </a:r>
          </a:p>
          <a:p>
            <a:pPr>
              <a:spcBef>
                <a:spcPts val="400"/>
              </a:spcBef>
            </a:pPr>
            <a:r>
              <a:rPr sz="1800">
                <a:solidFill>
                  <a:srgbClr val="1A1A2E"/>
                </a:solidFill>
                <a:latin typeface="Calibri"/>
              </a:rPr>
              <a:t>• 8.  联系方式和下一步行动</a:t>
            </a:r>
          </a:p>
          <a:p>
            <a:pPr>
              <a:spcBef>
                <a:spcPts val="400"/>
              </a:spcBef>
            </a:pPr>
            <a:r>
              <a:rPr sz="1800">
                <a:solidFill>
                  <a:srgbClr val="1A1A2E"/>
                </a:solidFill>
                <a:latin typeface="Calibri"/>
              </a:rPr>
              <a:t>• </a:t>
            </a:r>
          </a:p>
          <a:p>
            <a:pPr>
              <a:spcBef>
                <a:spcPts val="400"/>
              </a:spcBef>
            </a:pPr>
            <a:r>
              <a:rPr sz="1800">
                <a:solidFill>
                  <a:srgbClr val="1A1A2E"/>
                </a:solidFill>
                <a:latin typeface="Calibri"/>
              </a:rPr>
              <a:t>• ⏱  预计时长：约60–90分钟，含问答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65760" y="6510528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[公司名称] | 供应链尽职调查项目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201168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Calibri"/>
              </a:rPr>
              <a:t>第一部分
为什么我们有这些要求？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一句话说明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11247120" cy="1371600"/>
          </a:xfrm>
          <a:prstGeom prst="rect">
            <a:avLst/>
          </a:prstGeom>
          <a:solidFill>
            <a:srgbClr val="147F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负责任的供应链不是额外的负担——它是我们共同维持市场准入资格的基础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743200"/>
            <a:ext cx="112471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600">
                <a:solidFill>
                  <a:srgbClr val="1A1A2E"/>
                </a:solidFill>
                <a:latin typeface="Calibri"/>
              </a:rPr>
              <a:t>• 🌍  我们的客户（欧盟、美国、英国市场）正面临强制性供应链法规：德国LkSG、欧盟CSDDD、美国UFLPA……</a:t>
            </a: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1A1A2E"/>
                </a:solidFill>
                <a:latin typeface="Calibri"/>
              </a:rPr>
              <a:t>• 🔗  这些法规要求我们核查供应商——您的合规状态直接影响我们能否续订合同</a:t>
            </a: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1A1A2E"/>
                </a:solidFill>
                <a:latin typeface="Calibri"/>
              </a:rPr>
              <a:t>• 💼  简单说：如果您不达标，我们可能无法向您采购，即使产品质量再好</a:t>
            </a: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1A1A2E"/>
                </a:solidFill>
                <a:latin typeface="Calibri"/>
              </a:rPr>
              <a:t>• 🤝  我们的目标不是找到理由停止合作，而是帮助您达到并维持合规标准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65760" y="6510528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[公司名称] | 供应链尽职调查项目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7F9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201168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Calibri"/>
              </a:rPr>
              <a:t>第二部分
我们的期望：六大合规领域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六大合规领域：我们最关注什么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43000"/>
            <a:ext cx="3703320" cy="438912"/>
          </a:xfrm>
          <a:prstGeom prst="rect">
            <a:avLst/>
          </a:prstGeom>
          <a:solidFill>
            <a:srgbClr val="147F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75488" y="1188720"/>
            <a:ext cx="3657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领域</a:t>
            </a:r>
          </a:p>
        </p:txBody>
      </p:sp>
      <p:sp>
        <p:nvSpPr>
          <p:cNvPr id="6" name="Rectangle 5"/>
          <p:cNvSpPr/>
          <p:nvPr/>
        </p:nvSpPr>
        <p:spPr>
          <a:xfrm>
            <a:off x="4206240" y="1143000"/>
            <a:ext cx="3703320" cy="438912"/>
          </a:xfrm>
          <a:prstGeom prst="rect">
            <a:avLst/>
          </a:prstGeom>
          <a:solidFill>
            <a:srgbClr val="147F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224528" y="1188720"/>
            <a:ext cx="3657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最关键要求（前3项）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7955280" y="1143000"/>
            <a:ext cx="3703320" cy="438912"/>
          </a:xfrm>
          <a:prstGeom prst="rect">
            <a:avLst/>
          </a:prstGeom>
          <a:solidFill>
            <a:srgbClr val="147F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973568" y="1188720"/>
            <a:ext cx="3657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高风险发现示例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581912"/>
            <a:ext cx="3703320" cy="420623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02920" y="1618488"/>
            <a:ext cx="3657600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  <a:latin typeface="Calibri"/>
              </a:rPr>
              <a:t>👷 劳工权利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06240" y="1581912"/>
            <a:ext cx="3703320" cy="420623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251960" y="1618488"/>
            <a:ext cx="3657600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  <a:latin typeface="Calibri"/>
              </a:rPr>
              <a:t>• 无童工（&lt;16岁）
• 无强迫劳动（无押证件）
• 工资足额按时发放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55280" y="1581912"/>
            <a:ext cx="3703320" cy="420623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001000" y="1618488"/>
            <a:ext cx="3657600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  <a:latin typeface="Calibri"/>
              </a:rPr>
              <a:t>员工证件被没收
加班工资未支付
工人无法自愿离职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020824"/>
            <a:ext cx="3703320" cy="42062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02920" y="2057400"/>
            <a:ext cx="3657600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  <a:latin typeface="Calibri"/>
              </a:rPr>
              <a:t>🌿 环境合规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06240" y="2020824"/>
            <a:ext cx="3703320" cy="42062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251960" y="2057400"/>
            <a:ext cx="3657600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  <a:latin typeface="Calibri"/>
              </a:rPr>
              <a:t>• 废水合规排放有许可证
• 危废有资质机构处置
• 无违法排污记录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955280" y="2020824"/>
            <a:ext cx="3703320" cy="42062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001000" y="2057400"/>
            <a:ext cx="3657600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  <a:latin typeface="Calibri"/>
              </a:rPr>
              <a:t>偷排废水
危废随意堆放
无环保验收手续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2459736"/>
            <a:ext cx="3703320" cy="420623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02920" y="2496312"/>
            <a:ext cx="3657600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  <a:latin typeface="Calibri"/>
              </a:rPr>
              <a:t>🔒 供应链安全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206240" y="2459736"/>
            <a:ext cx="3703320" cy="420623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251960" y="2496312"/>
            <a:ext cx="3657600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  <a:latin typeface="Calibri"/>
              </a:rPr>
              <a:t>• 有门禁和访客管理
• 集装箱七点检验
• IT系统基本安全控制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955280" y="2459736"/>
            <a:ext cx="3703320" cy="420623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001000" y="2496312"/>
            <a:ext cx="3657600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  <a:latin typeface="Calibri"/>
              </a:rPr>
              <a:t>外来人员随意进入仓库
无封条管理程序
员工共用账号密码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2898648"/>
            <a:ext cx="3703320" cy="42062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502920" y="2935224"/>
            <a:ext cx="3657600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  <a:latin typeface="Calibri"/>
              </a:rPr>
              <a:t>⚖️ 商业道德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206240" y="2898648"/>
            <a:ext cx="3703320" cy="42062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4251960" y="2935224"/>
            <a:ext cx="3657600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  <a:latin typeface="Calibri"/>
              </a:rPr>
              <a:t>• 无行贿受贿
• 无利益冲突隐瞒
• 无制裁名单关联实体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955280" y="2898648"/>
            <a:ext cx="3703320" cy="42062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001000" y="2935224"/>
            <a:ext cx="3657600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  <a:latin typeface="Calibri"/>
              </a:rPr>
              <a:t>以礼品/回扣换订单
股东在受制裁名单内
虚假发票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3337560"/>
            <a:ext cx="3703320" cy="420623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502920" y="3374136"/>
            <a:ext cx="3657600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  <a:latin typeface="Calibri"/>
              </a:rPr>
              <a:t>💡 知识产权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206240" y="3337560"/>
            <a:ext cx="3703320" cy="420623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4251960" y="3374136"/>
            <a:ext cx="3657600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  <a:latin typeface="Calibri"/>
              </a:rPr>
              <a:t>• 不生产未授权产品
• 保护我方技术信息
• 不使用盗版软件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955280" y="3337560"/>
            <a:ext cx="3703320" cy="420623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8001000" y="3374136"/>
            <a:ext cx="3657600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  <a:latin typeface="Calibri"/>
              </a:rPr>
              <a:t>用我方模具生产标外产品
设计图纸外传给竞争对手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7200" y="3776472"/>
            <a:ext cx="3703320" cy="42062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502920" y="3813048"/>
            <a:ext cx="3657600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  <a:latin typeface="Calibri"/>
              </a:rPr>
              <a:t>🌱 社区/生物多样性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206240" y="3776472"/>
            <a:ext cx="3703320" cy="42062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4251960" y="3813048"/>
            <a:ext cx="3657600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  <a:latin typeface="Calibri"/>
              </a:rPr>
              <a:t>• 无毁林原料（EUDR）
• 社区申诉机制
• 动物福利（如适用）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955280" y="3776472"/>
            <a:ext cx="3703320" cy="42062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8001000" y="3813048"/>
            <a:ext cx="3657600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  <a:latin typeface="Calibri"/>
              </a:rPr>
              <a:t>棕榈油无RSPO认证
供应商在KBA保护区内</a:t>
            </a:r>
          </a:p>
        </p:txBody>
      </p:sp>
      <p:sp>
        <p:nvSpPr>
          <p:cNvPr id="46" name="Rectangle 45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365760" y="6510528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[公司名称] | 供应链尽职调查项目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201168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Calibri"/>
              </a:rPr>
              <a:t>第三部分
供应商行为准则（SCoC）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什么是供应商行为准则（SCoC）？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600">
                <a:solidFill>
                  <a:srgbClr val="1A1A2E"/>
                </a:solidFill>
                <a:latin typeface="Calibri"/>
              </a:rPr>
              <a:t>• 供应商行为准则（Supplier Code of Conduct，SCoC）是：</a:t>
            </a: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1A1A2E"/>
                </a:solidFill>
                <a:latin typeface="Calibri"/>
              </a:rPr>
              <a:t>•    我们对所有供应商在劳工权利、环境、道德、安全等方面的最低行为要求</a:t>
            </a: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1A1A2E"/>
                </a:solidFill>
                <a:latin typeface="Calibri"/>
              </a:rPr>
              <a:t>• </a:t>
            </a: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1A1A2E"/>
                </a:solidFill>
                <a:latin typeface="Calibri"/>
              </a:rPr>
              <a:t>• 📄  SCoC文件包含什么：</a:t>
            </a: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1A1A2E"/>
                </a:solidFill>
                <a:latin typeface="Calibri"/>
              </a:rPr>
              <a:t>•    • 第一章：劳工权利（禁止童工/强迫劳动/工时/工资/安全卫生）</a:t>
            </a: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1A1A2E"/>
                </a:solidFill>
                <a:latin typeface="Calibri"/>
              </a:rPr>
              <a:t>•    • 第二章：环境合规（废水/废气/废物/化学品/生物多样性）</a:t>
            </a: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1A1A2E"/>
                </a:solidFill>
                <a:latin typeface="Calibri"/>
              </a:rPr>
              <a:t>•    • 第三章：商业道德（反腐败/利益冲突/制裁合规）</a:t>
            </a: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1A1A2E"/>
                </a:solidFill>
                <a:latin typeface="Calibri"/>
              </a:rPr>
              <a:t>•    • 第四章：信息安全与数据保护</a:t>
            </a: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1A1A2E"/>
                </a:solidFill>
                <a:latin typeface="Calibri"/>
              </a:rPr>
              <a:t>•    • 第五章：知识产权保护</a:t>
            </a: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1A1A2E"/>
                </a:solidFill>
                <a:latin typeface="Calibri"/>
              </a:rPr>
              <a:t>•    • 第六章：原材料溯源（冲突矿产/EUDR）</a:t>
            </a: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1A1A2E"/>
                </a:solidFill>
                <a:latin typeface="Calibri"/>
              </a:rPr>
              <a:t>• </a:t>
            </a: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1A1A2E"/>
                </a:solidFill>
                <a:latin typeface="Calibri"/>
              </a:rPr>
              <a:t>• ✍️  您须做什么：</a:t>
            </a: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1A1A2E"/>
                </a:solidFill>
                <a:latin typeface="Calibri"/>
              </a:rPr>
              <a:t>•    阅读并理解SCoC全文 → 由法人代表或授权签署人签署 → 发回我方存档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65760" y="6510528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[公司名称] | 供应链尽职调查项目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签署SCoC ≠ 只是一张纸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43000"/>
            <a:ext cx="5394960" cy="411480"/>
          </a:xfrm>
          <a:prstGeom prst="rect">
            <a:avLst/>
          </a:prstGeom>
          <a:solidFill>
            <a:srgbClr val="147F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1170432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✅  签署意味着您承诺：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45920"/>
            <a:ext cx="5394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500">
                <a:solidFill>
                  <a:srgbClr val="1A1A2E"/>
                </a:solidFill>
                <a:latin typeface="Calibri"/>
              </a:rPr>
              <a:t>• 按照SCoC标准经营和管理工厂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1A1A2E"/>
                </a:solidFill>
                <a:latin typeface="Calibri"/>
              </a:rPr>
              <a:t>• 接受我方或第三方审核机构的合规审核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1A1A2E"/>
                </a:solidFill>
                <a:latin typeface="Calibri"/>
              </a:rPr>
              <a:t>• 主动披露可能影响合规的重大变化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1A1A2E"/>
                </a:solidFill>
                <a:latin typeface="Calibri"/>
              </a:rPr>
              <a:t>• 对发现的违规项目采取纠正措施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1A1A2E"/>
                </a:solidFill>
                <a:latin typeface="Calibri"/>
              </a:rPr>
              <a:t>• 将同等要求传递给您的主要供应商</a:t>
            </a:r>
          </a:p>
        </p:txBody>
      </p:sp>
      <p:sp>
        <p:nvSpPr>
          <p:cNvPr id="7" name="Rectangle 6"/>
          <p:cNvSpPr/>
          <p:nvPr/>
        </p:nvSpPr>
        <p:spPr>
          <a:xfrm>
            <a:off x="6309360" y="1143000"/>
            <a:ext cx="5394960" cy="411480"/>
          </a:xfrm>
          <a:prstGeom prst="rect">
            <a:avLst/>
          </a:prstGeom>
          <a:solidFill>
            <a:srgbClr val="147F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355080" y="1170432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⚠️  如果SCoC被违反：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1645920"/>
            <a:ext cx="5394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500">
                <a:solidFill>
                  <a:srgbClr val="1A1A2E"/>
                </a:solidFill>
                <a:latin typeface="Calibri"/>
              </a:rPr>
              <a:t>• 轻微违规：须在90天内整改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1A1A2E"/>
                </a:solidFill>
                <a:latin typeface="Calibri"/>
              </a:rPr>
              <a:t>• 重大违规：须在30天内整改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1A1A2E"/>
                </a:solidFill>
                <a:latin typeface="Calibri"/>
              </a:rPr>
              <a:t>• 零容忍违规（童工/强迫劳动）：
  可能立即终止合作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1A1A2E"/>
                </a:solidFill>
                <a:latin typeface="Calibri"/>
              </a:rPr>
              <a:t>• 我方会提供改善支持，
  不会在无通知情况下突然终止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65760" y="6510528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[公司名称] | 供应链尽职调查项目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7F9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201168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Calibri"/>
              </a:rPr>
              <a:t>第四部分
自评问卷（SAQ）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SAQ：您每年需要完成一次的自我评估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600">
                <a:solidFill>
                  <a:srgbClr val="1A1A2E"/>
                </a:solidFill>
                <a:latin typeface="Calibri"/>
              </a:rPr>
              <a:t>• 📝  SAQ是什么：</a:t>
            </a: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1A1A2E"/>
                </a:solidFill>
                <a:latin typeface="Calibri"/>
              </a:rPr>
              <a:t>•    一份涵盖劳工、环境、安全、道德等方面的标准化调查问卷</a:t>
            </a: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1A1A2E"/>
                </a:solidFill>
                <a:latin typeface="Calibri"/>
              </a:rPr>
              <a:t>•    通常60–80道题；完成时间约1–2小时</a:t>
            </a: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1A1A2E"/>
                </a:solidFill>
                <a:latin typeface="Calibri"/>
              </a:rPr>
              <a:t>• </a:t>
            </a: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1A1A2E"/>
                </a:solidFill>
                <a:latin typeface="Calibri"/>
              </a:rPr>
              <a:t>• 📅  什么时候发给您：</a:t>
            </a: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1A1A2E"/>
                </a:solidFill>
                <a:latin typeface="Calibri"/>
              </a:rPr>
              <a:t>•    每年[X月]发送；须在21天内完成并提交</a:t>
            </a: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1A1A2E"/>
                </a:solidFill>
                <a:latin typeface="Calibri"/>
              </a:rPr>
              <a:t>• </a:t>
            </a: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1A1A2E"/>
                </a:solidFill>
                <a:latin typeface="Calibri"/>
              </a:rPr>
              <a:t>• 📤  如何提交：</a:t>
            </a: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1A1A2E"/>
                </a:solidFill>
                <a:latin typeface="Calibri"/>
              </a:rPr>
              <a:t>•    通过[Sedex平台/邮件/我方供应商门户]提交</a:t>
            </a: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1A1A2E"/>
                </a:solidFill>
                <a:latin typeface="Calibri"/>
              </a:rPr>
              <a:t>• </a:t>
            </a: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1A1A2E"/>
                </a:solidFill>
                <a:latin typeface="Calibri"/>
              </a:rPr>
              <a:t>• 🌟  如何填好SAQ：</a:t>
            </a: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1A1A2E"/>
                </a:solidFill>
                <a:latin typeface="Calibri"/>
              </a:rPr>
              <a:t>•    • 真实填写——我们比较相关文件，矛盾回答比不合格回复危害更大</a:t>
            </a: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1A1A2E"/>
                </a:solidFill>
                <a:latin typeface="Calibri"/>
              </a:rPr>
              <a:t>•    • 不确定的问题可填写"正在整改中"并说明进度</a:t>
            </a: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1A1A2E"/>
                </a:solidFill>
                <a:latin typeface="Calibri"/>
              </a:rPr>
              <a:t>•    • 提前准备好关键文件（营业执照、社保记录、环保许可证等）</a:t>
            </a: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1A1A2E"/>
                </a:solidFill>
                <a:latin typeface="Calibri"/>
              </a:rPr>
              <a:t>•    • 如有疑问，联系我方采购联系人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65760" y="6510528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[公司名称] | 供应链尽职调查项目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201168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Calibri"/>
              </a:rPr>
              <a:t>第五部分
审核流程：您将经历什么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审核的三种形式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39087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600" dirty="0">
                <a:solidFill>
                  <a:srgbClr val="1A1A2E"/>
                </a:solidFill>
                <a:latin typeface="Calibri"/>
              </a:rPr>
              <a:t>• 📋  </a:t>
            </a:r>
            <a:r>
              <a:rPr sz="1600" dirty="0" err="1">
                <a:solidFill>
                  <a:srgbClr val="1A1A2E"/>
                </a:solidFill>
                <a:latin typeface="Calibri"/>
              </a:rPr>
              <a:t>桌面审核（Desktop</a:t>
            </a:r>
            <a:r>
              <a:rPr sz="1600" dirty="0">
                <a:solidFill>
                  <a:srgbClr val="1A1A2E"/>
                </a:solidFill>
                <a:latin typeface="Calibri"/>
              </a:rPr>
              <a:t> Review）</a:t>
            </a:r>
          </a:p>
          <a:p>
            <a:pPr>
              <a:spcBef>
                <a:spcPts val="400"/>
              </a:spcBef>
            </a:pPr>
            <a:r>
              <a:rPr sz="1600" dirty="0">
                <a:solidFill>
                  <a:srgbClr val="1A1A2E"/>
                </a:solidFill>
                <a:latin typeface="Calibri"/>
              </a:rPr>
              <a:t>•    </a:t>
            </a:r>
            <a:r>
              <a:rPr sz="1600" dirty="0" err="1">
                <a:solidFill>
                  <a:srgbClr val="1A1A2E"/>
                </a:solidFill>
                <a:latin typeface="Calibri"/>
              </a:rPr>
              <a:t>我方核查您提交的文件和SAQ回复；无需到访；通常用于低风险供应商</a:t>
            </a:r>
            <a:endParaRPr sz="1600" dirty="0">
              <a:solidFill>
                <a:srgbClr val="1A1A2E"/>
              </a:solidFill>
              <a:latin typeface="Calibri"/>
            </a:endParaRPr>
          </a:p>
          <a:p>
            <a:pPr>
              <a:spcBef>
                <a:spcPts val="400"/>
              </a:spcBef>
            </a:pPr>
            <a:r>
              <a:rPr sz="1600" dirty="0">
                <a:solidFill>
                  <a:srgbClr val="1A1A2E"/>
                </a:solidFill>
                <a:latin typeface="Calibri"/>
              </a:rPr>
              <a:t>• </a:t>
            </a:r>
          </a:p>
          <a:p>
            <a:pPr>
              <a:spcBef>
                <a:spcPts val="400"/>
              </a:spcBef>
            </a:pPr>
            <a:r>
              <a:rPr sz="1600" dirty="0">
                <a:solidFill>
                  <a:srgbClr val="1A1A2E"/>
                </a:solidFill>
                <a:latin typeface="Calibri"/>
              </a:rPr>
              <a:t>• 🏭  </a:t>
            </a:r>
            <a:r>
              <a:rPr sz="1600" dirty="0" err="1">
                <a:solidFill>
                  <a:srgbClr val="1A1A2E"/>
                </a:solidFill>
                <a:latin typeface="Calibri"/>
              </a:rPr>
              <a:t>现场审核（On-site</a:t>
            </a:r>
            <a:r>
              <a:rPr sz="1600" dirty="0">
                <a:solidFill>
                  <a:srgbClr val="1A1A2E"/>
                </a:solidFill>
                <a:latin typeface="Calibri"/>
              </a:rPr>
              <a:t> Audit）</a:t>
            </a:r>
          </a:p>
          <a:p>
            <a:pPr>
              <a:spcBef>
                <a:spcPts val="400"/>
              </a:spcBef>
            </a:pPr>
            <a:r>
              <a:rPr sz="1600" dirty="0">
                <a:solidFill>
                  <a:srgbClr val="1A1A2E"/>
                </a:solidFill>
                <a:latin typeface="Calibri"/>
              </a:rPr>
              <a:t>•    审核员到工厂进行1–2天实地检查；适用于高风险供应商和新供应商</a:t>
            </a:r>
          </a:p>
          <a:p>
            <a:pPr>
              <a:spcBef>
                <a:spcPts val="400"/>
              </a:spcBef>
            </a:pPr>
            <a:r>
              <a:rPr sz="1600" dirty="0">
                <a:solidFill>
                  <a:srgbClr val="1A1A2E"/>
                </a:solidFill>
                <a:latin typeface="Calibri"/>
              </a:rPr>
              <a:t>•    </a:t>
            </a:r>
            <a:r>
              <a:rPr sz="1600" dirty="0" err="1">
                <a:solidFill>
                  <a:srgbClr val="1A1A2E"/>
                </a:solidFill>
                <a:latin typeface="Calibri"/>
              </a:rPr>
              <a:t>包括：工厂参观</a:t>
            </a:r>
            <a:r>
              <a:rPr sz="1600" dirty="0">
                <a:solidFill>
                  <a:srgbClr val="1A1A2E"/>
                </a:solidFill>
                <a:latin typeface="Calibri"/>
              </a:rPr>
              <a:t> + </a:t>
            </a:r>
            <a:r>
              <a:rPr sz="1600" dirty="0" err="1">
                <a:solidFill>
                  <a:srgbClr val="1A1A2E"/>
                </a:solidFill>
                <a:latin typeface="Calibri"/>
              </a:rPr>
              <a:t>文件核查</a:t>
            </a:r>
            <a:r>
              <a:rPr sz="1600" dirty="0">
                <a:solidFill>
                  <a:srgbClr val="1A1A2E"/>
                </a:solidFill>
                <a:latin typeface="Calibri"/>
              </a:rPr>
              <a:t> + </a:t>
            </a:r>
            <a:r>
              <a:rPr sz="1600" dirty="0" err="1">
                <a:solidFill>
                  <a:srgbClr val="1A1A2E"/>
                </a:solidFill>
                <a:latin typeface="Calibri"/>
              </a:rPr>
              <a:t>工人访谈</a:t>
            </a:r>
            <a:r>
              <a:rPr sz="1600" dirty="0">
                <a:solidFill>
                  <a:srgbClr val="1A1A2E"/>
                </a:solidFill>
                <a:latin typeface="Calibri"/>
              </a:rPr>
              <a:t> + </a:t>
            </a:r>
            <a:r>
              <a:rPr sz="1600" dirty="0" err="1">
                <a:solidFill>
                  <a:srgbClr val="1A1A2E"/>
                </a:solidFill>
                <a:latin typeface="Calibri"/>
              </a:rPr>
              <a:t>开场</a:t>
            </a:r>
            <a:r>
              <a:rPr sz="1600" dirty="0">
                <a:solidFill>
                  <a:srgbClr val="1A1A2E"/>
                </a:solidFill>
                <a:latin typeface="Calibri"/>
              </a:rPr>
              <a:t>/</a:t>
            </a:r>
            <a:r>
              <a:rPr sz="1600" dirty="0" err="1">
                <a:solidFill>
                  <a:srgbClr val="1A1A2E"/>
                </a:solidFill>
                <a:latin typeface="Calibri"/>
              </a:rPr>
              <a:t>末次会议</a:t>
            </a:r>
            <a:endParaRPr sz="1600" dirty="0">
              <a:solidFill>
                <a:srgbClr val="1A1A2E"/>
              </a:solidFill>
              <a:latin typeface="Calibri"/>
            </a:endParaRPr>
          </a:p>
          <a:p>
            <a:pPr>
              <a:spcBef>
                <a:spcPts val="400"/>
              </a:spcBef>
            </a:pPr>
            <a:r>
              <a:rPr sz="1600" dirty="0">
                <a:solidFill>
                  <a:srgbClr val="1A1A2E"/>
                </a:solidFill>
                <a:latin typeface="Calibri"/>
              </a:rPr>
              <a:t>• </a:t>
            </a:r>
          </a:p>
          <a:p>
            <a:pPr>
              <a:spcBef>
                <a:spcPts val="400"/>
              </a:spcBef>
            </a:pPr>
            <a:r>
              <a:rPr sz="1600" dirty="0">
                <a:solidFill>
                  <a:srgbClr val="1A1A2E"/>
                </a:solidFill>
                <a:latin typeface="Calibri"/>
              </a:rPr>
              <a:t>• ⚡  </a:t>
            </a:r>
            <a:r>
              <a:rPr lang="zh-CN" altLang="en-US" sz="1600" dirty="0">
                <a:solidFill>
                  <a:srgbClr val="1A1A2E"/>
                </a:solidFill>
                <a:latin typeface="Calibri"/>
              </a:rPr>
              <a:t>突击</a:t>
            </a:r>
            <a:r>
              <a:rPr sz="1600" dirty="0" err="1">
                <a:solidFill>
                  <a:srgbClr val="1A1A2E"/>
                </a:solidFill>
                <a:latin typeface="Calibri"/>
              </a:rPr>
              <a:t>审核（Unannounced</a:t>
            </a:r>
            <a:r>
              <a:rPr sz="1600" dirty="0">
                <a:solidFill>
                  <a:srgbClr val="1A1A2E"/>
                </a:solidFill>
                <a:latin typeface="Calibri"/>
              </a:rPr>
              <a:t> Audit）</a:t>
            </a:r>
          </a:p>
          <a:p>
            <a:pPr>
              <a:spcBef>
                <a:spcPts val="400"/>
              </a:spcBef>
            </a:pPr>
            <a:r>
              <a:rPr sz="1600" dirty="0">
                <a:solidFill>
                  <a:srgbClr val="1A1A2E"/>
                </a:solidFill>
                <a:latin typeface="Calibri"/>
              </a:rPr>
              <a:t>•    </a:t>
            </a:r>
            <a:r>
              <a:rPr sz="1600" dirty="0" err="1">
                <a:solidFill>
                  <a:srgbClr val="1A1A2E"/>
                </a:solidFill>
                <a:latin typeface="Calibri"/>
              </a:rPr>
              <a:t>不提前通知，直接到厂；用于确认日常运营状态与审核准备时一致</a:t>
            </a:r>
            <a:endParaRPr sz="1600" dirty="0">
              <a:solidFill>
                <a:srgbClr val="1A1A2E"/>
              </a:solidFill>
              <a:latin typeface="Calibri"/>
            </a:endParaRPr>
          </a:p>
          <a:p>
            <a:pPr>
              <a:spcBef>
                <a:spcPts val="400"/>
              </a:spcBef>
            </a:pPr>
            <a:r>
              <a:rPr sz="1600" dirty="0">
                <a:solidFill>
                  <a:srgbClr val="1A1A2E"/>
                </a:solidFill>
                <a:latin typeface="Calibri"/>
              </a:rPr>
              <a:t>•    </a:t>
            </a:r>
            <a:r>
              <a:rPr sz="1600" dirty="0" err="1">
                <a:solidFill>
                  <a:srgbClr val="1A1A2E"/>
                </a:solidFill>
                <a:latin typeface="Calibri"/>
              </a:rPr>
              <a:t>提示：如果工厂日常运营合规，不预告审核没什么可担心的</a:t>
            </a:r>
            <a:endParaRPr sz="1600" dirty="0">
              <a:solidFill>
                <a:srgbClr val="1A1A2E"/>
              </a:solidFill>
              <a:latin typeface="Calibri"/>
            </a:endParaRPr>
          </a:p>
          <a:p>
            <a:pPr>
              <a:spcBef>
                <a:spcPts val="400"/>
              </a:spcBef>
            </a:pPr>
            <a:r>
              <a:rPr sz="1600" dirty="0">
                <a:solidFill>
                  <a:srgbClr val="1A1A2E"/>
                </a:solidFill>
                <a:latin typeface="Calibri"/>
              </a:rPr>
              <a:t>• </a:t>
            </a:r>
          </a:p>
          <a:p>
            <a:pPr>
              <a:spcBef>
                <a:spcPts val="400"/>
              </a:spcBef>
            </a:pPr>
            <a:r>
              <a:rPr sz="1600" dirty="0">
                <a:solidFill>
                  <a:srgbClr val="1A1A2E"/>
                </a:solidFill>
                <a:latin typeface="Calibri"/>
              </a:rPr>
              <a:t>• 📅  </a:t>
            </a:r>
            <a:r>
              <a:rPr sz="1600" dirty="0" err="1">
                <a:solidFill>
                  <a:srgbClr val="1A1A2E"/>
                </a:solidFill>
                <a:latin typeface="Calibri"/>
              </a:rPr>
              <a:t>审核频次参考</a:t>
            </a:r>
            <a:r>
              <a:rPr sz="1600" dirty="0">
                <a:solidFill>
                  <a:srgbClr val="1A1A2E"/>
                </a:solidFill>
                <a:latin typeface="Calibri"/>
              </a:rPr>
              <a:t>：</a:t>
            </a:r>
          </a:p>
          <a:p>
            <a:pPr>
              <a:spcBef>
                <a:spcPts val="400"/>
              </a:spcBef>
            </a:pPr>
            <a:r>
              <a:rPr sz="1600" dirty="0">
                <a:solidFill>
                  <a:srgbClr val="1A1A2E"/>
                </a:solidFill>
                <a:latin typeface="Calibri"/>
              </a:rPr>
              <a:t>•    低风险供应商：每2年一次 | </a:t>
            </a:r>
            <a:r>
              <a:rPr sz="1600" dirty="0" err="1">
                <a:solidFill>
                  <a:srgbClr val="1A1A2E"/>
                </a:solidFill>
                <a:latin typeface="Calibri"/>
              </a:rPr>
              <a:t>中等风险：每年一次</a:t>
            </a:r>
            <a:r>
              <a:rPr sz="1600" dirty="0">
                <a:solidFill>
                  <a:srgbClr val="1A1A2E"/>
                </a:solidFill>
                <a:latin typeface="Calibri"/>
              </a:rPr>
              <a:t> | 高风险：每年2次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65760" y="6510528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[公司名称] | 供应链尽职调查项目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审核当天：请准备好这些文件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43000"/>
            <a:ext cx="3703320" cy="438912"/>
          </a:xfrm>
          <a:prstGeom prst="rect">
            <a:avLst/>
          </a:prstGeom>
          <a:solidFill>
            <a:srgbClr val="147F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75488" y="1188720"/>
            <a:ext cx="3657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文件类别</a:t>
            </a:r>
          </a:p>
        </p:txBody>
      </p:sp>
      <p:sp>
        <p:nvSpPr>
          <p:cNvPr id="6" name="Rectangle 5"/>
          <p:cNvSpPr/>
          <p:nvPr/>
        </p:nvSpPr>
        <p:spPr>
          <a:xfrm>
            <a:off x="4206240" y="1143000"/>
            <a:ext cx="3703320" cy="438912"/>
          </a:xfrm>
          <a:prstGeom prst="rect">
            <a:avLst/>
          </a:prstGeom>
          <a:solidFill>
            <a:srgbClr val="147F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224528" y="1188720"/>
            <a:ext cx="3657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具体文件</a:t>
            </a:r>
          </a:p>
        </p:txBody>
      </p:sp>
      <p:sp>
        <p:nvSpPr>
          <p:cNvPr id="8" name="Rectangle 7"/>
          <p:cNvSpPr/>
          <p:nvPr/>
        </p:nvSpPr>
        <p:spPr>
          <a:xfrm>
            <a:off x="7955280" y="1143000"/>
            <a:ext cx="3703320" cy="438912"/>
          </a:xfrm>
          <a:prstGeom prst="rect">
            <a:avLst/>
          </a:prstGeom>
          <a:solidFill>
            <a:srgbClr val="147F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973568" y="1188720"/>
            <a:ext cx="3657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581912"/>
            <a:ext cx="3703320" cy="420623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02920" y="1618488"/>
            <a:ext cx="3657600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  <a:latin typeface="Calibri"/>
              </a:rPr>
              <a:t>营业资质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06240" y="1581912"/>
            <a:ext cx="3703320" cy="420623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251960" y="1618488"/>
            <a:ext cx="3657600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  <a:latin typeface="Calibri"/>
              </a:rPr>
              <a:t>营业执照、生产许可证、出口资质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55280" y="1581912"/>
            <a:ext cx="3703320" cy="420623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001000" y="1618488"/>
            <a:ext cx="3657600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  <a:latin typeface="Calibri"/>
              </a:rPr>
              <a:t>须在有效期内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020824"/>
            <a:ext cx="3703320" cy="42062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02920" y="2057400"/>
            <a:ext cx="3657600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  <a:latin typeface="Calibri"/>
              </a:rPr>
              <a:t>劳工文件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06240" y="2020824"/>
            <a:ext cx="3703320" cy="42062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251960" y="2057400"/>
            <a:ext cx="3657600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  <a:latin typeface="Calibri"/>
              </a:rPr>
              <a:t>员工名册、劳动合同（抽样）、工资单（近3个月）、考勤记录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955280" y="2020824"/>
            <a:ext cx="3703320" cy="42062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001000" y="2057400"/>
            <a:ext cx="3657600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  <a:latin typeface="Calibri"/>
              </a:rPr>
              <a:t>覆盖正式工+劳务工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2459736"/>
            <a:ext cx="3703320" cy="420623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02920" y="2496312"/>
            <a:ext cx="3657600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  <a:latin typeface="Calibri"/>
              </a:rPr>
              <a:t>社会保险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206240" y="2459736"/>
            <a:ext cx="3703320" cy="420623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251960" y="2496312"/>
            <a:ext cx="3657600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  <a:latin typeface="Calibri"/>
              </a:rPr>
              <a:t>社保缴费清单（近3个月）+ 社保局查询截图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955280" y="2459736"/>
            <a:ext cx="3703320" cy="420623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001000" y="2496312"/>
            <a:ext cx="3657600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  <a:latin typeface="Calibri"/>
              </a:rPr>
              <a:t>须与员工名册对应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2898648"/>
            <a:ext cx="3703320" cy="42062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502920" y="2935224"/>
            <a:ext cx="3657600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  <a:latin typeface="Calibri"/>
              </a:rPr>
              <a:t>安全卫生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206240" y="2898648"/>
            <a:ext cx="3703320" cy="42062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4251960" y="2935224"/>
            <a:ext cx="3657600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  <a:latin typeface="Calibri"/>
              </a:rPr>
              <a:t>消防验收、安全生产许可证（如适用）、职业病防治档案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955280" y="2898648"/>
            <a:ext cx="3703320" cy="42062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001000" y="2935224"/>
            <a:ext cx="3657600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  <a:latin typeface="Calibri"/>
              </a:rPr>
              <a:t>特种作业人员须持证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3337560"/>
            <a:ext cx="3703320" cy="420623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502920" y="3374136"/>
            <a:ext cx="3657600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  <a:latin typeface="Calibri"/>
              </a:rPr>
              <a:t>环保文件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206240" y="3337560"/>
            <a:ext cx="3703320" cy="420623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4251960" y="3374136"/>
            <a:ext cx="3657600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  <a:latin typeface="Calibri"/>
              </a:rPr>
              <a:t>排污许可证、废水监测报告（近1年）、危废转移联单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955280" y="3337560"/>
            <a:ext cx="3703320" cy="420623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8001000" y="3374136"/>
            <a:ext cx="3657600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  <a:latin typeface="Calibri"/>
              </a:rPr>
              <a:t>须为有效证件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7200" y="3776472"/>
            <a:ext cx="3703320" cy="42062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502920" y="3813048"/>
            <a:ext cx="3657600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  <a:latin typeface="Calibri"/>
              </a:rPr>
              <a:t>道德合规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206240" y="3776472"/>
            <a:ext cx="3703320" cy="42062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4251960" y="3813048"/>
            <a:ext cx="3657600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  <a:latin typeface="Calibri"/>
              </a:rPr>
              <a:t>反腐败政策、利益冲突申报记录、举报机制说明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955280" y="3776472"/>
            <a:ext cx="3703320" cy="42062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8001000" y="3813048"/>
            <a:ext cx="3657600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endParaRPr/>
          </a:p>
        </p:txBody>
      </p:sp>
      <p:sp>
        <p:nvSpPr>
          <p:cNvPr id="46" name="Rectangle 45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365760" y="6510528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[公司名称] | 供应链尽职调查项目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7F9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201168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Calibri"/>
              </a:rPr>
              <a:t>第六部分
发现问题后如何处理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审核发现问题≠合作终止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600">
                <a:solidFill>
                  <a:srgbClr val="1A1A2E"/>
                </a:solidFill>
                <a:latin typeface="Calibri"/>
              </a:rPr>
              <a:t>• 🔄  我们处理问题的原则：</a:t>
            </a: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1A1A2E"/>
                </a:solidFill>
                <a:latin typeface="Calibri"/>
              </a:rPr>
              <a:t>•    首要目标是"帮助改善"，而非"找到理由罚款或停止合作"</a:t>
            </a: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1A1A2E"/>
                </a:solidFill>
                <a:latin typeface="Calibri"/>
              </a:rPr>
              <a:t>• </a:t>
            </a: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1A1A2E"/>
                </a:solidFill>
                <a:latin typeface="Calibri"/>
              </a:rPr>
              <a:t>• 📋  收到审核报告后，您须：</a:t>
            </a: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1A1A2E"/>
                </a:solidFill>
                <a:latin typeface="Calibri"/>
              </a:rPr>
              <a:t>•    Step 1：在7天内确认收到报告，并指定整改负责人</a:t>
            </a: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1A1A2E"/>
                </a:solidFill>
                <a:latin typeface="Calibri"/>
              </a:rPr>
              <a:t>•    Step 2：针对每个发现项，制定纠正行动计划（CAP）</a:t>
            </a: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1A1A2E"/>
                </a:solidFill>
                <a:latin typeface="Calibri"/>
              </a:rPr>
              <a:t>•    Step 3：在约定时限内完成整改，并提供证明材料（照片/文件）</a:t>
            </a: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1A1A2E"/>
                </a:solidFill>
                <a:latin typeface="Calibri"/>
              </a:rPr>
              <a:t>•    Step 4：等待我方确认整改关闭</a:t>
            </a: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1A1A2E"/>
                </a:solidFill>
                <a:latin typeface="Calibri"/>
              </a:rPr>
              <a:t>• </a:t>
            </a: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1A1A2E"/>
                </a:solidFill>
                <a:latin typeface="Calibri"/>
              </a:rPr>
              <a:t>• 💡  CAP写作技巧：</a:t>
            </a: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1A1A2E"/>
                </a:solidFill>
                <a:latin typeface="Calibri"/>
              </a:rPr>
              <a:t>•    • 说明"根本原因"（为什么会发生）</a:t>
            </a: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1A1A2E"/>
                </a:solidFill>
                <a:latin typeface="Calibri"/>
              </a:rPr>
              <a:t>•    • 写出"具体行动"（做什么，不要写"加强管理"）</a:t>
            </a: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1A1A2E"/>
                </a:solidFill>
                <a:latin typeface="Calibri"/>
              </a:rPr>
              <a:t>•    • 指定"负责人"和"完成日期"</a:t>
            </a: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1A1A2E"/>
                </a:solidFill>
                <a:latin typeface="Calibri"/>
              </a:rPr>
              <a:t>•    • 准备"验证证据"（审核员可以检查什么）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65760" y="6510528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[公司名称] | 供应链尽职调查项目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201168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Calibri"/>
              </a:rPr>
              <a:t>第七部分
我们提供的支持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我们不只是提要求——我们也提供支持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43000"/>
            <a:ext cx="5394960" cy="411480"/>
          </a:xfrm>
          <a:prstGeom prst="rect">
            <a:avLst/>
          </a:prstGeom>
          <a:solidFill>
            <a:srgbClr val="147F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1170432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📚  培训资源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45920"/>
            <a:ext cx="5394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500">
                <a:solidFill>
                  <a:srgbClr val="1A1A2E"/>
                </a:solidFill>
                <a:latin typeface="Calibri"/>
              </a:rPr>
              <a:t>• 本培训材料（可下载）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1A1A2E"/>
                </a:solidFill>
                <a:latin typeface="Calibri"/>
              </a:rPr>
              <a:t>• 供应商行为准则详细说明文档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1A1A2E"/>
                </a:solidFill>
                <a:latin typeface="Calibri"/>
              </a:rPr>
              <a:t>• SAQ填写指引（含常见问题解答）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1A1A2E"/>
                </a:solidFill>
                <a:latin typeface="Calibri"/>
              </a:rPr>
              <a:t>• 审核准备清单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1A1A2E"/>
                </a:solidFill>
                <a:latin typeface="Calibri"/>
              </a:rPr>
              <a:t>• 纠正行动计划模板</a:t>
            </a:r>
          </a:p>
        </p:txBody>
      </p:sp>
      <p:sp>
        <p:nvSpPr>
          <p:cNvPr id="7" name="Rectangle 6"/>
          <p:cNvSpPr/>
          <p:nvPr/>
        </p:nvSpPr>
        <p:spPr>
          <a:xfrm>
            <a:off x="6309360" y="1143000"/>
            <a:ext cx="5394960" cy="411480"/>
          </a:xfrm>
          <a:prstGeom prst="rect">
            <a:avLst/>
          </a:prstGeom>
          <a:solidFill>
            <a:srgbClr val="147F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355080" y="1170432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🤝  直接支持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1645920"/>
            <a:ext cx="5394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500">
                <a:solidFill>
                  <a:srgbClr val="1A1A2E"/>
                </a:solidFill>
                <a:latin typeface="Calibri"/>
              </a:rPr>
              <a:t>• 采购联系人：SAQ和合规问题首要联系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1A1A2E"/>
                </a:solidFill>
                <a:latin typeface="Calibri"/>
              </a:rPr>
              <a:t>• 合规团队：复杂问题和政策解读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1A1A2E"/>
                </a:solidFill>
                <a:latin typeface="Calibri"/>
              </a:rPr>
              <a:t>• 审核前电话会议：首次审核前可预约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1A1A2E"/>
                </a:solidFill>
                <a:latin typeface="Calibri"/>
              </a:rPr>
              <a:t>• 整改期间辅导：重大发现项可申请顾问支持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1A1A2E"/>
                </a:solidFill>
                <a:latin typeface="Calibri"/>
              </a:rPr>
              <a:t>• 供应商绩效奖励：持续合规供应商享受优先采购政策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65760" y="6510528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[公司名称] | 供应链尽职调查项目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731520"/>
            <a:ext cx="11247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Calibri"/>
              </a:rPr>
              <a:t>我们期待与您长期合作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2194560"/>
            <a:ext cx="10360152" cy="73152"/>
          </a:xfrm>
          <a:prstGeom prst="rect">
            <a:avLst/>
          </a:prstGeom>
          <a:solidFill>
            <a:srgbClr val="F18F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914400" y="2468880"/>
            <a:ext cx="320040" cy="320040"/>
          </a:xfrm>
          <a:prstGeom prst="rect">
            <a:avLst/>
          </a:prstGeom>
          <a:solidFill>
            <a:srgbClr val="F18F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371600" y="2450592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  <a:latin typeface="Calibri"/>
              </a:rPr>
              <a:t>下一步：签署SCoC并在[日期]前提交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3291840"/>
            <a:ext cx="320040" cy="320040"/>
          </a:xfrm>
          <a:prstGeom prst="rect">
            <a:avLst/>
          </a:prstGeom>
          <a:solidFill>
            <a:srgbClr val="F18F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371600" y="3273552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  <a:latin typeface="Calibri"/>
              </a:rPr>
              <a:t>填写SAQ：我们将在[日期]发送链接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4114800"/>
            <a:ext cx="320040" cy="320040"/>
          </a:xfrm>
          <a:prstGeom prst="rect">
            <a:avLst/>
          </a:prstGeom>
          <a:solidFill>
            <a:srgbClr val="F18F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371600" y="4096512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  <a:latin typeface="Calibri"/>
              </a:rPr>
              <a:t>问题和疑虑：请随时联系您的采购联系人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1264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6C757D"/>
                </a:solidFill>
                <a:latin typeface="Calibri"/>
              </a:rPr>
              <a:t>采购合规联系：[采购联系人] | [邮箱] | [电话]  |  合规部门：[compliance@company.com]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907</Words>
  <Application>Microsoft Office PowerPoint</Application>
  <PresentationFormat>Custom</PresentationFormat>
  <Paragraphs>171</Paragraphs>
  <Slides>19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Jack Zhong</cp:lastModifiedBy>
  <cp:revision>1</cp:revision>
  <dcterms:created xsi:type="dcterms:W3CDTF">2013-01-27T09:14:16Z</dcterms:created>
  <dcterms:modified xsi:type="dcterms:W3CDTF">2026-04-06T09:14:46Z</dcterms:modified>
  <cp:category/>
</cp:coreProperties>
</file>