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供应链尽职调查
操作培训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内部团队培训材料 | 采购与合规团队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3A5F"/>
                </a:solidFill>
                <a:latin typeface="Calibri"/>
              </a:rPr>
              <a:t>[演讲者姓名/职位]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[日期]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217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供应链尽职调查系列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培训内容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模块一：什么是供应链尽职调查（30分钟）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模块二：我们的DD框架与六大合规支柱（45分钟）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模块三：供应商风险分级方法（30分钟）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模块四：如何使用SAQ（20分钟）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模块五：审核流程与发现项处理（45分钟）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模块六：纠正行动计划（CAP）管理（20分钟）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模块七：我的角色与职责（15分钟）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📌  培训结束后将进行10题测验，合格后颁发培训证书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模块一
什么是供应链尽职调查？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尽职调查（Due Diligence）的定义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供应链尽职调查是指：系统性地识别、评估、预防和应对供应链中的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人权风险、环境风险、腐败风险和安全风险的过程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📖  法律依据：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• 联合国《工商企业与人权指导原则》（UNGPs，2011年）——奠定框架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• 德国《供应链尽职调查法》（LkSG，2023年）——首个强制性立法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• 欧盟《企业可持续发展尽职调查指令》（CSDDD，2024年通过）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🎯  我们为什么做：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保住客户订单 + 满足法规要求 + 管理供应链风险 + 建立负责任品牌形象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DD ≠ 审核  |  理解关键区别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❌  常见误解：DD = 派人去工厂查查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只在出问题时才看供应商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重点是抓到违规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审核报告 = 任务完成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关注：供应商是否"通过"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覆盖范围：有问题的供应商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正确理解：DD = 系统性持续管理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从采购决策前就开始评估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重点是识别风险并帮助改善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持续跟进直到风险消除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关注：供应商是否"持续改进"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覆盖范围：所有供应商，分级管理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模块二
六大合规支柱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我们的DD框架：六大合规支柱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支柱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8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8726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核心议题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主要风险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254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082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适用标准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👷 劳工权利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898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470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童工、强迫劳动、工时、工资、结社自由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工人权利侵害
供应商被曝光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254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26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ILO核心公约
amfori BSCI / SMETA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🌿 环境合规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470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废水、废气、废物、化学品、碳排放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环保违规处罚
EUDR合规风险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254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826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ISO 14001
REACH / EUDR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🔒 供应链安全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898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470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货物完整性、信息安全、网络安全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货物被走私
数据泄露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254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826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C-TPAT / AEO
ISO 27001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⚖️ 商业道德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898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470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反腐败、反贿赂、利益冲突、制裁合规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FCPA/UKBA违规
制裁名单关联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254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3826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FCPA / LkSG
OFAC制裁名单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337560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374136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💡 知识产权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8980" y="3337560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14700" y="3374136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商标保护、防伪、保密信息管理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3337560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3374136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技术泄露
假冒商品流出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92540" y="3337560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38260" y="3374136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专利法/商标法
保密协议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776472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81304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🌍 ESG合规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68980" y="3776472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14700" y="381304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碳披露、生物多样性、社区影响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3776472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381304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CSRD报告义务
供应链碳税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92540" y="3776472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38260" y="381304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CSRD/ESRS
TCFD / TNFD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模块三
供应商风险分级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供应商风险分级：五维度评分模型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每个供应商在以下五个维度各得0–20分，合计0–100分：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📍  维度一：地理位置风险（0–20）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高风险地区（冲突区/劳工侵权集中区）+20，低风险地区+0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🏭  维度二：行业固有风险（0–20）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服装/电子代工/采矿 等劳动密集型行业风险较高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🔗  维度三：供应链地位（0–20）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直接供应商 vs. 原材料采购商 vs. 代工厂（业务关联越深风险越高）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📊  维度四：历史审核记录（0–20）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近3年发现严重不符合项 → 高分；持续合规 → 低分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💰  维度五：商业重要性（0–20）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战略供应商（唯一来源/高采购额）→ 更高优先级管理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风险等级对应管理行动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综合得分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898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8726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风险等级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管理频次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2540" y="1143000"/>
            <a:ext cx="276606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0828" y="1188720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主要行动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0–39分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898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470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🟢 低风险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每2年一次全面评估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2540" y="1581912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260" y="1618488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SAQ自评 + 文件核查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40–59分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470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🟡 中等风险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每年一次SAQ + 审核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2540" y="2020824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8260" y="2057400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SAQ + 桌面审核 + 现场选样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60–79分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898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470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🟠 高风险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每年现场审核 + 半年跟踪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2540" y="2459736"/>
            <a:ext cx="276606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38260" y="2496312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全面现场审核 + CAP跟进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80–100分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898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470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🔴 极高风险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半年现场审核 + 月度跟踪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2540" y="2898648"/>
            <a:ext cx="276606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38260" y="2935224"/>
            <a:ext cx="27203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立即改进计划 + 采购决策审查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模块四
如何使用SAQ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SAQ（供应商自评问卷）操作流程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📤  Step 1：发送SAQ（由采购团队操作）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通过Sedex平台或电子邮件发送标准SAQ模板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设置回收截止日期：发送后21天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提供供应商帮助文档（问题说明）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📥  Step 2：审核SAQ回复（合规团队操作）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检查完整性：空白项&gt;10% → 退回重填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检查高风险问题：标红项目须跟进核实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与历史记录比较：异常变化须询问原因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🚦  Step 3：触发下一步行动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低风险回复 → 归档，下次按周期重发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中等风险 → 要求提供佐证文件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高风险红旗 → 触发现场审核程序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模块五
审核流程与发现项处理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现场审核的五个阶段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📋  阶段一：审核准备（审核前2周）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收集上次审核报告、SAQ回复、生产计划；准备文件清单；预约工厂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🚪  阶段二：开场会（审核当日上午）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介绍审核目的、范围、程序；不接受工厂提前"准备"限制审核范围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🔍  阶段三：现场检查 + 文件审查（核心阶段）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按照审核清单逐项核查；随机选取工人进行独立访谈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👥  阶段四：工人访谈（独立进行，无管理层陪同）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每次审核至少访谈10名工人（高风险工厂20名）；采用标准化问题库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📝  阶段五：末次会议 + 报告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向工厂管理层反馈主要发现；明确整改要求和时限；报告7天内发送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发现项严重程度分级与处理要求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203704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6624" y="1143000"/>
            <a:ext cx="2203704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4912" y="11887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定义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1143000"/>
            <a:ext cx="2203704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4336" y="11887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典型示例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5472" y="1143000"/>
            <a:ext cx="2203704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1887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整改时限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54896" y="1143000"/>
            <a:ext cx="2203704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73184" y="11887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我方行动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581912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18488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🔴 零容忍（ZT）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6624" y="1581912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2344" y="1618488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违反基本道德底线，立即终止合作考量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1581912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1618488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童工、强迫劳动、性侵犯、非法拘禁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5472" y="1581912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1618488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立即停止，无宽限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4896" y="1581912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1618488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上报管理层；48小时内决定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020824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057400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🔴 严重（Critical）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6624" y="2020824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52344" y="2057400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重大法规违规，存在人身安全风险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2020824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2057400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无紧急出口、无消防设施、拒绝审核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5472" y="2020824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51192" y="2057400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7天内启动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54896" y="2020824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616" y="2057400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CAP要求；30天验证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459736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496312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🟠 主要（Major）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6624" y="2459736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52344" y="2496312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显著违规，不立即整改将升级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2459736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1768" y="2496312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超时工作无补偿、工资记录不一致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05472" y="2459736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2496312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30天内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54896" y="2459736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0616" y="2496312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CAP要求；90天验证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898648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935224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🟡 次要（Minor）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06624" y="2898648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52344" y="2935224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轻微不符合，需改善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2898648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2935224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记录不完整、标识缺失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5472" y="2898648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51192" y="2935224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90天内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4896" y="2898648"/>
            <a:ext cx="2203704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0616" y="2935224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书面确认整改方案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337560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374136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📝 观察（OFI）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06624" y="3337560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52344" y="3374136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改善建议，非违规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56048" y="3337560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01768" y="3374136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节能改进、流程优化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05472" y="3337560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51192" y="3374136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下次审核前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54896" y="3337560"/>
            <a:ext cx="2203704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0616" y="3374136"/>
            <a:ext cx="2157984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记录在案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模块六
纠正行动计划（CAP）管理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有效CAP的五个要素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一个有效的纠正行动计划（CAP）必须包含：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1️⃣  根本原因分析（Root Cause Analysis）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"为什么会发生这个问题？"——而非只描述表面现象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2️⃣  具体整改措施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"我们将采取什么具体行动？"——而非"我们将改善管理"等模糊表述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3️⃣  负责人和时限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每项措施须指定到人，设置具体日期（不接受"尽快"）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4️⃣  可核查的证明材料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整改完成后须提供照片、文件、记录等证明——审核员可远程或现场核实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5️⃣  预防重发措施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  <a:latin typeface="Calibri"/>
              </a:rPr>
              <a:t>•    "如何确保同类问题不再发生？"——制度/培训/监督机制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模块七
我的角色与职责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不同角色在DD体系中的职责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🛒  采购团队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将SCoC签署纳入供应商准入条件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发送SAQ并跟进回收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将DD绩效纳入供应商评分卡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对高风险供应商触发审核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CAP执行情况持续跟踪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📋  合规/法务团队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制定和更新DD政策与标准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审核SAQ回复并标记风险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管理审核机构关系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处理重大发现项的升级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编制年度DD合规报告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常见问题解答（FAQ）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❓  "供应商拒绝接受审核怎么办？"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→ 拒绝审核本身即为重大风险信号；上报采购经理，评估是否继续合作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❓  "审核发现重大问题，是否立即终止供应商？"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→ 视情况而定：零容忍违规立即终止；其他问题先给予整改机会（90天）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❓  "供应商说某些文件是商业机密不能提供？"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→ 工资记录、考勤、社保缴费等属于合规核查必要文件，拒绝提供 = 审核无法完成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❓  "我发现工厂有违规但工厂请我不要写进报告？"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→ 如实记录；任何形式的隐瞒或受贿均违反本公司行为准则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培训完成！下一步行动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10360152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320040" cy="3200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50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完成10题在线测验（通过率≥80%）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320040" cy="3200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73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将本培训内容分享给团队新成员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320040" cy="3200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遇到不确定情况：联系合规团队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合规团队联系邮箱：[compliance@company.com]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